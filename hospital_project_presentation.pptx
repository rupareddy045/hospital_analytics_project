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65" r:id="rId3"/>
    <p:sldId id="258" r:id="rId4"/>
    <p:sldId id="260" r:id="rId5"/>
    <p:sldId id="261" r:id="rId6"/>
    <p:sldId id="262" r:id="rId7"/>
    <p:sldId id="267" r:id="rId8"/>
    <p:sldId id="268" r:id="rId9"/>
    <p:sldId id="269" r:id="rId10"/>
    <p:sldId id="270" r:id="rId11"/>
    <p:sldId id="271" r:id="rId12"/>
    <p:sldId id="272" r:id="rId13"/>
    <p:sldId id="273" r:id="rId14"/>
    <p:sldId id="274" r:id="rId15"/>
    <p:sldId id="275" r:id="rId16"/>
    <p:sldId id="276" r:id="rId17"/>
    <p:sldId id="277" r:id="rId18"/>
    <p:sldId id="284" r:id="rId19"/>
    <p:sldId id="285" r:id="rId20"/>
    <p:sldId id="286" r:id="rId21"/>
    <p:sldId id="278" r:id="rId22"/>
    <p:sldId id="279" r:id="rId23"/>
    <p:sldId id="280" r:id="rId24"/>
    <p:sldId id="281" r:id="rId25"/>
    <p:sldId id="282" r:id="rId26"/>
    <p:sldId id="283" r:id="rId27"/>
    <p:sldId id="264" r:id="rId28"/>
    <p:sldId id="266" r:id="rId29"/>
    <p:sldId id="259" r:id="rId30"/>
  </p:sldIdLst>
  <p:sldSz cx="12192000" cy="6858000"/>
  <p:notesSz cx="6858000" cy="9144000"/>
  <p:embeddedFontLst>
    <p:embeddedFont>
      <p:font typeface="Libre Baskerville"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C04A1-D367-4711-9045-7CB5ED98FC4D}" v="1" dt="2026-09-04T00:19:39.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AE"/>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RUPAREDDY045" TargetMode="External"/><Relationship Id="rId2" Type="http://schemas.openxmlformats.org/officeDocument/2006/relationships/hyperlink" Target="https://www.linkedin.com/in/rupa-devi-767b1b28a/"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144"/>
            <a:ext cx="12190815" cy="6858000"/>
          </a:xfrm>
          <a:prstGeom prst="rect">
            <a:avLst/>
          </a:prstGeom>
          <a:noFill/>
          <a:ln>
            <a:noFill/>
          </a:ln>
        </p:spPr>
      </p:pic>
      <p:sp>
        <p:nvSpPr>
          <p:cNvPr id="99" name="Google Shape;99;p1"/>
          <p:cNvSpPr txBox="1"/>
          <p:nvPr/>
        </p:nvSpPr>
        <p:spPr>
          <a:xfrm>
            <a:off x="2472904" y="3717986"/>
            <a:ext cx="7246189" cy="2646838"/>
          </a:xfrm>
          <a:prstGeom prst="rect">
            <a:avLst/>
          </a:prstGeom>
          <a:noFill/>
          <a:ln>
            <a:noFill/>
          </a:ln>
        </p:spPr>
        <p:txBody>
          <a:bodyPr spcFirstLastPara="1" wrap="square" lIns="91425" tIns="45700" rIns="91425" bIns="45700" anchor="t" anchorCtr="0">
            <a:spAutoFit/>
          </a:bodyPr>
          <a:lstStyle/>
          <a:p>
            <a:pPr lvl="0" algn="ctr">
              <a:buSzPts val="1800"/>
            </a:pPr>
            <a:r>
              <a:rPr lang="en-US" sz="3000" b="1" dirty="0">
                <a:latin typeface="+mj-lt"/>
                <a:cs typeface="Times New Roman" panose="02020603050405020304" pitchFamily="18" charset="0"/>
              </a:rPr>
              <a:t>Hospital Patient Care Operations Analytics</a:t>
            </a:r>
            <a:endParaRPr lang="en-AE" sz="3000" b="1" dirty="0">
              <a:latin typeface="+mj-lt"/>
              <a:cs typeface="Times New Roman" panose="02020603050405020304" pitchFamily="18" charset="0"/>
            </a:endParaRPr>
          </a:p>
          <a:p>
            <a:pPr lvl="0" algn="ctr">
              <a:buSzPts val="1800"/>
            </a:pPr>
            <a:r>
              <a:rPr lang="en-AE" b="1" dirty="0">
                <a:latin typeface="+mj-lt"/>
                <a:cs typeface="Times New Roman" panose="02020603050405020304" pitchFamily="18" charset="0"/>
              </a:rPr>
              <a:t>A</a:t>
            </a:r>
            <a:r>
              <a:rPr lang="en-AE" b="1" i="0" u="none" strike="noStrike" cap="none" dirty="0">
                <a:solidFill>
                  <a:srgbClr val="000000"/>
                </a:solidFill>
                <a:latin typeface="+mj-lt"/>
                <a:cs typeface="Times New Roman" panose="02020603050405020304" pitchFamily="18" charset="0"/>
                <a:sym typeface="Arial"/>
              </a:rPr>
              <a:t> DATABASE Using MYSQL</a:t>
            </a:r>
          </a:p>
          <a:p>
            <a:pPr lvl="0" algn="ctr">
              <a:buSzPts val="1800"/>
            </a:pPr>
            <a:endParaRPr lang="en-AE" sz="1200" b="1" i="0" u="none" strike="noStrike" cap="none" dirty="0">
              <a:solidFill>
                <a:srgbClr val="000000"/>
              </a:solidFill>
              <a:latin typeface="+mj-lt"/>
              <a:cs typeface="Times New Roman" panose="02020603050405020304" pitchFamily="18" charset="0"/>
              <a:sym typeface="Arial"/>
            </a:endParaRPr>
          </a:p>
          <a:p>
            <a:pPr lvl="0" algn="ctr">
              <a:buSzPts val="1800"/>
            </a:pPr>
            <a:endParaRPr lang="en-AE" sz="1200" b="1" dirty="0">
              <a:latin typeface="+mj-lt"/>
              <a:cs typeface="Times New Roman" panose="02020603050405020304" pitchFamily="18" charset="0"/>
            </a:endParaRPr>
          </a:p>
          <a:p>
            <a:pPr lvl="0" algn="ctr">
              <a:buSzPts val="1800"/>
            </a:pPr>
            <a:endParaRPr lang="en-AE" sz="2000" b="1" dirty="0">
              <a:latin typeface="+mj-lt"/>
              <a:cs typeface="Times New Roman" panose="02020603050405020304" pitchFamily="18" charset="0"/>
            </a:endParaRPr>
          </a:p>
          <a:p>
            <a:pPr lvl="0" algn="ctr">
              <a:buSzPts val="1800"/>
            </a:pPr>
            <a:r>
              <a:rPr lang="en-AE" sz="2300" b="1" dirty="0">
                <a:latin typeface="+mj-lt"/>
                <a:cs typeface="Times New Roman" panose="02020603050405020304" pitchFamily="18" charset="0"/>
              </a:rPr>
              <a:t>Presented By :</a:t>
            </a:r>
          </a:p>
          <a:p>
            <a:pPr lvl="0" algn="ctr">
              <a:buSzPts val="1800"/>
            </a:pPr>
            <a:r>
              <a:rPr lang="en-AE" sz="2500" dirty="0">
                <a:latin typeface="+mj-lt"/>
                <a:cs typeface="Times New Roman" panose="02020603050405020304" pitchFamily="18" charset="0"/>
              </a:rPr>
              <a:t>SANNAPUREDDY RUPADEVI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C23E7-956F-8AB7-3D16-6508DC3B02BB}"/>
              </a:ext>
            </a:extLst>
          </p:cNvPr>
          <p:cNvSpPr>
            <a:spLocks noGrp="1"/>
          </p:cNvSpPr>
          <p:nvPr>
            <p:ph type="title"/>
          </p:nvPr>
        </p:nvSpPr>
        <p:spPr>
          <a:xfrm>
            <a:off x="639097" y="265472"/>
            <a:ext cx="11041625" cy="757083"/>
          </a:xfrm>
        </p:spPr>
        <p:txBody>
          <a:bodyPr/>
          <a:lstStyle/>
          <a:p>
            <a:pPr algn="ctr"/>
            <a:r>
              <a:rPr lang="en-IN" b="1">
                <a:solidFill>
                  <a:srgbClr val="FF0000"/>
                </a:solidFill>
              </a:rPr>
              <a:t>About Me</a:t>
            </a:r>
            <a:endParaRPr lang="en-AE" b="1" dirty="0">
              <a:solidFill>
                <a:srgbClr val="FF0000"/>
              </a:solidFill>
            </a:endParaRPr>
          </a:p>
        </p:txBody>
      </p:sp>
      <p:sp>
        <p:nvSpPr>
          <p:cNvPr id="3" name="Text Placeholder 2">
            <a:extLst>
              <a:ext uri="{FF2B5EF4-FFF2-40B4-BE49-F238E27FC236}">
                <a16:creationId xmlns:a16="http://schemas.microsoft.com/office/drawing/2014/main" id="{13A33FB6-E19D-11CC-9600-E85D348C6D49}"/>
              </a:ext>
            </a:extLst>
          </p:cNvPr>
          <p:cNvSpPr>
            <a:spLocks noGrp="1"/>
          </p:cNvSpPr>
          <p:nvPr>
            <p:ph type="body" idx="1"/>
          </p:nvPr>
        </p:nvSpPr>
        <p:spPr>
          <a:xfrm>
            <a:off x="639097" y="1022555"/>
            <a:ext cx="11041625" cy="5122607"/>
          </a:xfrm>
        </p:spPr>
        <p:txBody>
          <a:bodyPr>
            <a:normAutofit/>
          </a:bodyPr>
          <a:lstStyle/>
          <a:p>
            <a:pPr marL="114300" indent="0">
              <a:buNone/>
            </a:pPr>
            <a:r>
              <a:rPr lang="en-IN" b="1" dirty="0">
                <a:latin typeface="+mn-lt"/>
              </a:rPr>
              <a:t>Nakka Harika, </a:t>
            </a:r>
            <a:r>
              <a:rPr lang="en-US" sz="2000" dirty="0">
                <a:solidFill>
                  <a:schemeClr val="tx1"/>
                </a:solidFill>
                <a:latin typeface="+mn-lt"/>
                <a:cs typeface="Times New Roman"/>
              </a:rPr>
              <a:t>B.</a:t>
            </a:r>
            <a:r>
              <a:rPr lang="en-US" sz="1700" dirty="0">
                <a:solidFill>
                  <a:schemeClr val="tx1"/>
                </a:solidFill>
                <a:latin typeface="+mn-lt"/>
                <a:cs typeface="Times New Roman"/>
              </a:rPr>
              <a:t>Tech</a:t>
            </a:r>
            <a:r>
              <a:rPr lang="en-US" sz="2000" dirty="0">
                <a:solidFill>
                  <a:schemeClr val="tx1"/>
                </a:solidFill>
                <a:latin typeface="+mn-lt"/>
                <a:cs typeface="Times New Roman"/>
              </a:rPr>
              <a:t> – ECE</a:t>
            </a:r>
          </a:p>
          <a:p>
            <a:pPr marL="114300" indent="0">
              <a:buNone/>
            </a:pPr>
            <a:endParaRPr lang="en-US" sz="2000" dirty="0">
              <a:solidFill>
                <a:schemeClr val="tx1"/>
              </a:solidFill>
              <a:latin typeface="+mn-lt"/>
              <a:cs typeface="Times New Roman"/>
            </a:endParaRPr>
          </a:p>
          <a:p>
            <a:pPr marL="114300" indent="0">
              <a:buNone/>
            </a:pPr>
            <a:r>
              <a:rPr lang="en-US" sz="2400" b="1" dirty="0">
                <a:solidFill>
                  <a:schemeClr val="tx1"/>
                </a:solidFill>
                <a:latin typeface="+mn-lt"/>
                <a:cs typeface="Times New Roman"/>
              </a:rPr>
              <a:t>Why Data Science? </a:t>
            </a:r>
            <a:endParaRPr lang="en-IN" sz="2400" b="1" dirty="0">
              <a:solidFill>
                <a:schemeClr val="tx1"/>
              </a:solidFill>
              <a:latin typeface="+mn-lt"/>
              <a:cs typeface="Times New Roman"/>
            </a:endParaRPr>
          </a:p>
          <a:p>
            <a:pPr marL="114300" indent="0">
              <a:buNone/>
            </a:pPr>
            <a:r>
              <a:rPr lang="en-AE" sz="2000" dirty="0"/>
              <a:t>Data science gives you the ultimate power to predict trends and guide massive choices using everyday data. It has many open roles, high demand, good pay, job flexibility etc..</a:t>
            </a:r>
          </a:p>
          <a:p>
            <a:pPr marL="114300" indent="0">
              <a:buNone/>
            </a:pPr>
            <a:endParaRPr lang="en-AE" sz="2000" dirty="0"/>
          </a:p>
          <a:p>
            <a:pPr marL="114300" indent="0">
              <a:buNone/>
            </a:pPr>
            <a:r>
              <a:rPr lang="en-US" sz="2400" b="1" spc="-10" dirty="0">
                <a:solidFill>
                  <a:schemeClr val="tx1"/>
                </a:solidFill>
                <a:uFill>
                  <a:solidFill>
                    <a:srgbClr val="0462C1"/>
                  </a:solidFill>
                </a:uFill>
                <a:latin typeface="+mn-lt"/>
                <a:cs typeface="Times New Roman"/>
              </a:rPr>
              <a:t>Work Experience </a:t>
            </a:r>
            <a:r>
              <a:rPr lang="en-US" sz="2000" b="1" spc="-10" dirty="0">
                <a:solidFill>
                  <a:schemeClr val="tx1"/>
                </a:solidFill>
                <a:uFill>
                  <a:solidFill>
                    <a:srgbClr val="0462C1"/>
                  </a:solidFill>
                </a:uFill>
                <a:latin typeface="Times New Roman"/>
                <a:cs typeface="Times New Roman"/>
              </a:rPr>
              <a:t>: </a:t>
            </a:r>
            <a:r>
              <a:rPr lang="en-US" sz="2000" spc="-10" dirty="0">
                <a:solidFill>
                  <a:schemeClr val="tx1"/>
                </a:solidFill>
                <a:uFill>
                  <a:solidFill>
                    <a:srgbClr val="0462C1"/>
                  </a:solidFill>
                </a:uFill>
                <a:latin typeface="+mn-lt"/>
                <a:cs typeface="Times New Roman"/>
              </a:rPr>
              <a:t>Fresher</a:t>
            </a:r>
          </a:p>
          <a:p>
            <a:pPr marL="114300" indent="0">
              <a:buNone/>
            </a:pPr>
            <a:endParaRPr lang="en-US" sz="2000" spc="-10" dirty="0">
              <a:solidFill>
                <a:schemeClr val="tx1"/>
              </a:solidFill>
              <a:uFill>
                <a:solidFill>
                  <a:srgbClr val="0462C1"/>
                </a:solidFill>
              </a:uFill>
              <a:latin typeface="+mn-lt"/>
              <a:cs typeface="Times New Roman"/>
            </a:endParaRPr>
          </a:p>
          <a:p>
            <a:pPr marL="114300" indent="0">
              <a:buNone/>
            </a:pPr>
            <a:r>
              <a:rPr lang="en-US" sz="2400" b="1" spc="-10" dirty="0">
                <a:solidFill>
                  <a:schemeClr val="tx1"/>
                </a:solidFill>
                <a:uFill>
                  <a:solidFill>
                    <a:srgbClr val="0462C1"/>
                  </a:solidFill>
                </a:uFill>
                <a:latin typeface="+mn-lt"/>
                <a:cs typeface="Times New Roman"/>
              </a:rPr>
              <a:t>LinkedIn :</a:t>
            </a:r>
            <a:r>
              <a:rPr lang="en-US" sz="1800" spc="-10" dirty="0">
                <a:solidFill>
                  <a:schemeClr val="tx1"/>
                </a:solidFill>
                <a:uFill>
                  <a:solidFill>
                    <a:srgbClr val="0462C1"/>
                  </a:solidFill>
                </a:uFill>
                <a:latin typeface="+mn-lt"/>
                <a:cs typeface="Times New Roman"/>
                <a:hlinkClick r:id="rId2"/>
              </a:rPr>
              <a:t>https://www.linkedin.com/in/rupa-devi-767b1b28a/</a:t>
            </a:r>
            <a:endParaRPr lang="en-US" sz="1800" spc="-10" dirty="0">
              <a:solidFill>
                <a:schemeClr val="tx1"/>
              </a:solidFill>
              <a:uFill>
                <a:solidFill>
                  <a:srgbClr val="0462C1"/>
                </a:solidFill>
              </a:uFill>
              <a:latin typeface="+mn-lt"/>
              <a:cs typeface="Times New Roman"/>
            </a:endParaRPr>
          </a:p>
          <a:p>
            <a:pPr marL="114300" indent="0">
              <a:buNone/>
            </a:pPr>
            <a:r>
              <a:rPr lang="en-AE" sz="2400" b="1" dirty="0">
                <a:latin typeface="+mn-lt"/>
              </a:rPr>
              <a:t>GitHub  :</a:t>
            </a:r>
            <a:r>
              <a:rPr lang="en-IN" sz="1800" dirty="0">
                <a:latin typeface="+mn-lt"/>
                <a:hlinkClick r:id="rId3"/>
              </a:rPr>
              <a:t>https://github.com/RUPAREDDY045</a:t>
            </a:r>
            <a:endParaRPr lang="en-IN" sz="1800" dirty="0">
              <a:latin typeface="+mn-lt"/>
            </a:endParaRPr>
          </a:p>
          <a:p>
            <a:pPr marL="114300" indent="0">
              <a:buNone/>
            </a:pPr>
            <a:endParaRPr lang="en-AE" sz="1800" dirty="0">
              <a:latin typeface="+mn-lt"/>
            </a:endParaRPr>
          </a:p>
        </p:txBody>
      </p:sp>
    </p:spTree>
    <p:extLst>
      <p:ext uri="{BB962C8B-B14F-4D97-AF65-F5344CB8AC3E}">
        <p14:creationId xmlns:p14="http://schemas.microsoft.com/office/powerpoint/2010/main" val="1463822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314632"/>
            <a:ext cx="10515600" cy="7374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4000" b="1" dirty="0">
                <a:solidFill>
                  <a:srgbClr val="FF0000"/>
                </a:solidFill>
                <a:latin typeface="+mn-lt"/>
              </a:rPr>
              <a:t>Agenda</a:t>
            </a:r>
            <a:endParaRPr sz="4000" b="1" dirty="0">
              <a:solidFill>
                <a:srgbClr val="FF0000"/>
              </a:solidFill>
              <a:latin typeface="+mn-lt"/>
            </a:endParaRPr>
          </a:p>
        </p:txBody>
      </p:sp>
      <p:sp>
        <p:nvSpPr>
          <p:cNvPr id="111" name="Google Shape;111;p4"/>
          <p:cNvSpPr txBox="1">
            <a:spLocks noGrp="1"/>
          </p:cNvSpPr>
          <p:nvPr>
            <p:ph type="body" idx="1"/>
          </p:nvPr>
        </p:nvSpPr>
        <p:spPr>
          <a:xfrm>
            <a:off x="684880" y="1150374"/>
            <a:ext cx="10838526" cy="4984955"/>
          </a:xfrm>
          <a:prstGeom prst="rect">
            <a:avLst/>
          </a:prstGeom>
          <a:noFill/>
          <a:ln>
            <a:noFill/>
          </a:ln>
        </p:spPr>
        <p:txBody>
          <a:bodyPr spcFirstLastPara="1" wrap="square" lIns="91425" tIns="45700" rIns="91425" bIns="45700" anchor="t" anchorCtr="0">
            <a:normAutofit lnSpcReduction="10000"/>
          </a:bodyPr>
          <a:lstStyle/>
          <a:p>
            <a:pPr marL="457200" lvl="0" indent="-431800" algn="l" rtl="0">
              <a:lnSpc>
                <a:spcPct val="90000"/>
              </a:lnSpc>
              <a:spcBef>
                <a:spcPts val="1000"/>
              </a:spcBef>
              <a:spcAft>
                <a:spcPts val="0"/>
              </a:spcAft>
              <a:buSzPts val="2400"/>
              <a:buChar char="•"/>
            </a:pPr>
            <a:r>
              <a:rPr lang="en-IN" sz="2400" b="1" dirty="0"/>
              <a:t>Objective of the Project</a:t>
            </a:r>
          </a:p>
          <a:p>
            <a:pPr marL="457200" lvl="0" indent="-431800" algn="l" rtl="0">
              <a:lnSpc>
                <a:spcPct val="90000"/>
              </a:lnSpc>
              <a:spcBef>
                <a:spcPts val="1000"/>
              </a:spcBef>
              <a:spcAft>
                <a:spcPts val="0"/>
              </a:spcAft>
              <a:buSzPts val="2400"/>
              <a:buChar char="•"/>
            </a:pPr>
            <a:endParaRPr lang="en-IN" sz="2400" b="1" dirty="0"/>
          </a:p>
          <a:p>
            <a:pPr marL="457200" lvl="0" indent="-431800" algn="l" rtl="0">
              <a:lnSpc>
                <a:spcPct val="90000"/>
              </a:lnSpc>
              <a:spcBef>
                <a:spcPts val="1000"/>
              </a:spcBef>
              <a:spcAft>
                <a:spcPts val="0"/>
              </a:spcAft>
              <a:buSzPts val="2400"/>
              <a:buChar char="•"/>
            </a:pPr>
            <a:r>
              <a:rPr lang="en-IN" sz="2400" b="1" dirty="0"/>
              <a:t>Database Structure</a:t>
            </a:r>
          </a:p>
          <a:p>
            <a:pPr marL="457200" lvl="0" indent="-431800" algn="l" rtl="0">
              <a:lnSpc>
                <a:spcPct val="90000"/>
              </a:lnSpc>
              <a:spcBef>
                <a:spcPts val="1000"/>
              </a:spcBef>
              <a:spcAft>
                <a:spcPts val="0"/>
              </a:spcAft>
              <a:buSzPts val="2400"/>
              <a:buChar char="•"/>
            </a:pPr>
            <a:endParaRPr lang="en-IN" sz="2400" b="1" dirty="0"/>
          </a:p>
          <a:p>
            <a:pPr marL="457200" lvl="0" indent="-431800" algn="l" rtl="0">
              <a:lnSpc>
                <a:spcPct val="90000"/>
              </a:lnSpc>
              <a:spcBef>
                <a:spcPts val="1000"/>
              </a:spcBef>
              <a:spcAft>
                <a:spcPts val="0"/>
              </a:spcAft>
              <a:buSzPts val="2400"/>
              <a:buChar char="•"/>
            </a:pPr>
            <a:r>
              <a:rPr lang="en-IN" sz="2400" b="1" dirty="0"/>
              <a:t>ER Diagram  </a:t>
            </a:r>
          </a:p>
          <a:p>
            <a:pPr marL="25400" lvl="0" indent="0" algn="l" rtl="0">
              <a:lnSpc>
                <a:spcPct val="90000"/>
              </a:lnSpc>
              <a:spcBef>
                <a:spcPts val="1000"/>
              </a:spcBef>
              <a:spcAft>
                <a:spcPts val="0"/>
              </a:spcAft>
              <a:buSzPts val="2400"/>
              <a:buNone/>
            </a:pPr>
            <a:endParaRPr sz="2400" dirty="0"/>
          </a:p>
          <a:p>
            <a:pPr marL="457200" lvl="0" indent="-431800" algn="l" rtl="0">
              <a:lnSpc>
                <a:spcPct val="90000"/>
              </a:lnSpc>
              <a:spcBef>
                <a:spcPts val="1000"/>
              </a:spcBef>
              <a:spcAft>
                <a:spcPts val="0"/>
              </a:spcAft>
              <a:buSzPts val="2400"/>
              <a:buChar char="•"/>
            </a:pPr>
            <a:r>
              <a:rPr lang="en-IN" sz="2400" b="1" dirty="0"/>
              <a:t>Key Analysis Questions </a:t>
            </a:r>
            <a:endParaRPr sz="2400" dirty="0"/>
          </a:p>
          <a:p>
            <a:pPr marL="457200" lvl="0" indent="-431800" algn="l" rtl="0">
              <a:lnSpc>
                <a:spcPct val="90000"/>
              </a:lnSpc>
              <a:spcBef>
                <a:spcPts val="1000"/>
              </a:spcBef>
              <a:spcAft>
                <a:spcPts val="0"/>
              </a:spcAft>
              <a:buSzPts val="2400"/>
              <a:buChar char="•"/>
            </a:pPr>
            <a:endParaRPr lang="en-IN" sz="2400" b="1" dirty="0"/>
          </a:p>
          <a:p>
            <a:pPr lvl="0" indent="-431800">
              <a:buSzPts val="2400"/>
            </a:pPr>
            <a:r>
              <a:rPr lang="en-IN" sz="2400" b="1" dirty="0"/>
              <a:t>Experience/Challenges</a:t>
            </a:r>
            <a:endParaRPr lang="en-IN" sz="2400" dirty="0"/>
          </a:p>
          <a:p>
            <a:pPr lvl="0" indent="-431800">
              <a:buSzPts val="2400"/>
            </a:pPr>
            <a:endParaRPr lang="en-IN" sz="2400" b="1" dirty="0"/>
          </a:p>
          <a:p>
            <a:pPr lvl="0" indent="-431800">
              <a:buSzPts val="2400"/>
            </a:pPr>
            <a:r>
              <a:rPr lang="en-IN" sz="2400" b="1" dirty="0"/>
              <a:t>Conclusion</a:t>
            </a:r>
            <a:endParaRPr lang="en-IN" sz="2400" dirty="0"/>
          </a:p>
          <a:p>
            <a:pPr marL="457200" lvl="0" indent="-431800" algn="l" rtl="0">
              <a:lnSpc>
                <a:spcPct val="90000"/>
              </a:lnSpc>
              <a:spcBef>
                <a:spcPts val="1000"/>
              </a:spcBef>
              <a:spcAft>
                <a:spcPts val="0"/>
              </a:spcAft>
              <a:buSzPts val="2400"/>
              <a:buChar cha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10839-4FF5-3F94-8727-DA1CA6C9CE64}"/>
              </a:ext>
            </a:extLst>
          </p:cNvPr>
          <p:cNvSpPr>
            <a:spLocks noGrp="1"/>
          </p:cNvSpPr>
          <p:nvPr>
            <p:ph type="title"/>
          </p:nvPr>
        </p:nvSpPr>
        <p:spPr>
          <a:xfrm>
            <a:off x="609600" y="265470"/>
            <a:ext cx="10972800" cy="1012723"/>
          </a:xfrm>
        </p:spPr>
        <p:txBody>
          <a:bodyPr>
            <a:normAutofit fontScale="90000"/>
          </a:bodyPr>
          <a:lstStyle/>
          <a:p>
            <a:br>
              <a:rPr lang="en-IN" b="1" dirty="0"/>
            </a:br>
            <a:r>
              <a:rPr lang="en-IN" sz="3300" b="1" dirty="0">
                <a:solidFill>
                  <a:srgbClr val="FF0000"/>
                </a:solidFill>
                <a:latin typeface="+mn-lt"/>
              </a:rPr>
              <a:t>Objective of the Project :</a:t>
            </a:r>
            <a:br>
              <a:rPr lang="en-IN" sz="3300" b="1" dirty="0">
                <a:solidFill>
                  <a:srgbClr val="FF0000"/>
                </a:solidFill>
              </a:rPr>
            </a:br>
            <a:endParaRPr lang="en-AE" sz="3300" dirty="0">
              <a:solidFill>
                <a:srgbClr val="FF0000"/>
              </a:solidFill>
            </a:endParaRPr>
          </a:p>
        </p:txBody>
      </p:sp>
      <p:sp>
        <p:nvSpPr>
          <p:cNvPr id="3" name="Text Placeholder 2">
            <a:extLst>
              <a:ext uri="{FF2B5EF4-FFF2-40B4-BE49-F238E27FC236}">
                <a16:creationId xmlns:a16="http://schemas.microsoft.com/office/drawing/2014/main" id="{E83D52B1-A46E-88BA-65EE-8D7F46D9CDAC}"/>
              </a:ext>
            </a:extLst>
          </p:cNvPr>
          <p:cNvSpPr>
            <a:spLocks noGrp="1"/>
          </p:cNvSpPr>
          <p:nvPr>
            <p:ph type="body" idx="1"/>
          </p:nvPr>
        </p:nvSpPr>
        <p:spPr>
          <a:xfrm>
            <a:off x="698090" y="1278194"/>
            <a:ext cx="10776155" cy="4817806"/>
          </a:xfrm>
        </p:spPr>
        <p:txBody>
          <a:bodyPr>
            <a:normAutofit lnSpcReduction="10000"/>
          </a:bodyPr>
          <a:lstStyle/>
          <a:p>
            <a:pPr algn="just"/>
            <a:r>
              <a:rPr lang="en-AE" sz="2300" dirty="0"/>
              <a:t>The objective of this project is to design and implement an </a:t>
            </a:r>
            <a:r>
              <a:rPr lang="en-US" sz="2300" dirty="0"/>
              <a:t>Hospital Patient Care Operations Analytics </a:t>
            </a:r>
            <a:r>
              <a:rPr lang="en-AE" sz="2300" dirty="0"/>
              <a:t>that efficiently stores and manages hospital-related data within an organization.</a:t>
            </a:r>
          </a:p>
          <a:p>
            <a:pPr algn="just"/>
            <a:r>
              <a:rPr lang="en-AE" sz="2300" dirty="0"/>
              <a:t>The system needs to track various aspects of patients information, including patient demand, appointment behaviour, treatment performance, doctor and room utilization, and operational problems.</a:t>
            </a:r>
          </a:p>
          <a:p>
            <a:pPr algn="just"/>
            <a:r>
              <a:rPr lang="en-AE" sz="2300" dirty="0"/>
              <a:t>The system should ensure the integrity and consistency of data by using relational tables with appropriate foreign keys and cascading actions.</a:t>
            </a:r>
          </a:p>
          <a:p>
            <a:pPr algn="just"/>
            <a:r>
              <a:rPr lang="en-AE" sz="2300" dirty="0"/>
              <a:t>The system should allow for easy management and querying of patient data, providing insights such as hospital operations, patient appointments, medical services, treatment encounters, doctors, and room resources.</a:t>
            </a:r>
          </a:p>
          <a:p>
            <a:pPr algn="just"/>
            <a:r>
              <a:rPr lang="en-AE" sz="2300" dirty="0"/>
              <a:t>The goal is to streamline Hospital operations, ensuring that all relevant patient data is accessible and accurately updated across different modules.</a:t>
            </a:r>
          </a:p>
          <a:p>
            <a:endParaRPr lang="en-AE" sz="2400" dirty="0">
              <a:latin typeface="+mn-lt"/>
            </a:endParaRPr>
          </a:p>
        </p:txBody>
      </p:sp>
    </p:spTree>
    <p:extLst>
      <p:ext uri="{BB962C8B-B14F-4D97-AF65-F5344CB8AC3E}">
        <p14:creationId xmlns:p14="http://schemas.microsoft.com/office/powerpoint/2010/main" val="69416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E73C-CD18-0D81-B07F-523282566833}"/>
              </a:ext>
            </a:extLst>
          </p:cNvPr>
          <p:cNvSpPr>
            <a:spLocks noGrp="1"/>
          </p:cNvSpPr>
          <p:nvPr>
            <p:ph type="title"/>
          </p:nvPr>
        </p:nvSpPr>
        <p:spPr>
          <a:xfrm>
            <a:off x="599769" y="306131"/>
            <a:ext cx="11051458" cy="1080217"/>
          </a:xfrm>
        </p:spPr>
        <p:txBody>
          <a:bodyPr>
            <a:normAutofit fontScale="90000"/>
          </a:bodyPr>
          <a:lstStyle/>
          <a:p>
            <a:br>
              <a:rPr lang="en-IN" b="1" dirty="0"/>
            </a:br>
            <a:r>
              <a:rPr lang="en-IN" b="1" dirty="0">
                <a:solidFill>
                  <a:srgbClr val="FF0000"/>
                </a:solidFill>
              </a:rPr>
              <a:t>Database Structure : </a:t>
            </a:r>
            <a:br>
              <a:rPr lang="en-IN" b="1" dirty="0"/>
            </a:br>
            <a:endParaRPr lang="en-AE" dirty="0"/>
          </a:p>
        </p:txBody>
      </p:sp>
      <p:sp>
        <p:nvSpPr>
          <p:cNvPr id="3" name="Text Placeholder 2">
            <a:extLst>
              <a:ext uri="{FF2B5EF4-FFF2-40B4-BE49-F238E27FC236}">
                <a16:creationId xmlns:a16="http://schemas.microsoft.com/office/drawing/2014/main" id="{3D5666A4-0A7C-E0C0-5083-EDA37EE77C9C}"/>
              </a:ext>
            </a:extLst>
          </p:cNvPr>
          <p:cNvSpPr>
            <a:spLocks noGrp="1"/>
          </p:cNvSpPr>
          <p:nvPr>
            <p:ph type="body" idx="1"/>
          </p:nvPr>
        </p:nvSpPr>
        <p:spPr>
          <a:xfrm>
            <a:off x="599769" y="1386348"/>
            <a:ext cx="11051458" cy="4790615"/>
          </a:xfrm>
        </p:spPr>
        <p:txBody>
          <a:bodyPr>
            <a:normAutofit/>
          </a:bodyPr>
          <a:lstStyle/>
          <a:p>
            <a:pPr marL="114300" indent="0">
              <a:buNone/>
            </a:pPr>
            <a:r>
              <a:rPr lang="en-AE" sz="2400" dirty="0"/>
              <a:t>This project contains </a:t>
            </a:r>
            <a:r>
              <a:rPr lang="en-AE" sz="2400" b="1" dirty="0"/>
              <a:t>5 interrelated tables</a:t>
            </a:r>
            <a:r>
              <a:rPr lang="en-AE" sz="2400" dirty="0"/>
              <a:t>:</a:t>
            </a:r>
          </a:p>
          <a:p>
            <a:pPr lvl="0"/>
            <a:r>
              <a:rPr lang="en-AE" sz="2400" dirty="0"/>
              <a:t>Doctors</a:t>
            </a:r>
          </a:p>
          <a:p>
            <a:pPr lvl="0"/>
            <a:r>
              <a:rPr lang="en-AE" sz="2400" dirty="0"/>
              <a:t>Patients</a:t>
            </a:r>
          </a:p>
          <a:p>
            <a:pPr lvl="0"/>
            <a:r>
              <a:rPr lang="en-AE" sz="2400" dirty="0"/>
              <a:t>Rooms</a:t>
            </a:r>
          </a:p>
          <a:p>
            <a:pPr lvl="0"/>
            <a:r>
              <a:rPr lang="en-AE" sz="2400" dirty="0"/>
              <a:t>Appointments</a:t>
            </a:r>
          </a:p>
          <a:p>
            <a:pPr lvl="0"/>
            <a:r>
              <a:rPr lang="en-AE" sz="2400" dirty="0"/>
              <a:t>Treatments</a:t>
            </a:r>
          </a:p>
          <a:p>
            <a:pPr marL="114300" lvl="0" indent="0">
              <a:buNone/>
            </a:pPr>
            <a:r>
              <a:rPr lang="en-AE" sz="2400" dirty="0"/>
              <a:t>These tables are connected using </a:t>
            </a:r>
            <a:r>
              <a:rPr lang="en-AE" sz="2400" b="1" dirty="0"/>
              <a:t>Primary Keys</a:t>
            </a:r>
            <a:r>
              <a:rPr lang="en-AE" sz="2400" dirty="0"/>
              <a:t> and </a:t>
            </a:r>
            <a:r>
              <a:rPr lang="en-AE" sz="2400" b="1" dirty="0"/>
              <a:t>Foreign Keys</a:t>
            </a:r>
            <a:r>
              <a:rPr lang="en-AE" sz="2400" dirty="0"/>
              <a:t> to maintain relational database integrity.</a:t>
            </a:r>
          </a:p>
          <a:p>
            <a:endParaRPr lang="en-AE" dirty="0"/>
          </a:p>
        </p:txBody>
      </p:sp>
    </p:spTree>
    <p:extLst>
      <p:ext uri="{BB962C8B-B14F-4D97-AF65-F5344CB8AC3E}">
        <p14:creationId xmlns:p14="http://schemas.microsoft.com/office/powerpoint/2010/main" val="3609232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5EED3-B30A-BC78-0F7E-CD859EE1EED2}"/>
              </a:ext>
            </a:extLst>
          </p:cNvPr>
          <p:cNvSpPr>
            <a:spLocks noGrp="1"/>
          </p:cNvSpPr>
          <p:nvPr>
            <p:ph type="title"/>
          </p:nvPr>
        </p:nvSpPr>
        <p:spPr>
          <a:xfrm>
            <a:off x="838200" y="147485"/>
            <a:ext cx="3271684" cy="884902"/>
          </a:xfrm>
        </p:spPr>
        <p:txBody>
          <a:bodyPr>
            <a:normAutofit fontScale="90000"/>
          </a:bodyPr>
          <a:lstStyle/>
          <a:p>
            <a:r>
              <a:rPr lang="en-IN" b="1" dirty="0">
                <a:solidFill>
                  <a:srgbClr val="FF0000"/>
                </a:solidFill>
                <a:latin typeface="+mn-lt"/>
              </a:rPr>
              <a:t>ER Diagram  </a:t>
            </a:r>
            <a:endParaRPr lang="en-AE" b="1" dirty="0">
              <a:solidFill>
                <a:srgbClr val="FF0000"/>
              </a:solidFill>
              <a:latin typeface="+mn-lt"/>
            </a:endParaRPr>
          </a:p>
        </p:txBody>
      </p:sp>
      <p:pic>
        <p:nvPicPr>
          <p:cNvPr id="7" name="Picture 6">
            <a:extLst>
              <a:ext uri="{FF2B5EF4-FFF2-40B4-BE49-F238E27FC236}">
                <a16:creationId xmlns:a16="http://schemas.microsoft.com/office/drawing/2014/main" id="{5F3C6640-EF47-E10C-C21A-9CA22CF72EED}"/>
              </a:ext>
            </a:extLst>
          </p:cNvPr>
          <p:cNvPicPr>
            <a:picLocks noChangeAspect="1"/>
          </p:cNvPicPr>
          <p:nvPr/>
        </p:nvPicPr>
        <p:blipFill>
          <a:blip r:embed="rId2"/>
          <a:stretch>
            <a:fillRect/>
          </a:stretch>
        </p:blipFill>
        <p:spPr>
          <a:xfrm>
            <a:off x="2024744" y="1121228"/>
            <a:ext cx="7622484" cy="4917847"/>
          </a:xfrm>
          <a:prstGeom prst="rect">
            <a:avLst/>
          </a:prstGeom>
        </p:spPr>
      </p:pic>
    </p:spTree>
    <p:extLst>
      <p:ext uri="{BB962C8B-B14F-4D97-AF65-F5344CB8AC3E}">
        <p14:creationId xmlns:p14="http://schemas.microsoft.com/office/powerpoint/2010/main" val="654001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E6572-44CD-E72F-11AE-FDCD3A20DC05}"/>
              </a:ext>
            </a:extLst>
          </p:cNvPr>
          <p:cNvSpPr>
            <a:spLocks noGrp="1"/>
          </p:cNvSpPr>
          <p:nvPr>
            <p:ph type="title"/>
          </p:nvPr>
        </p:nvSpPr>
        <p:spPr>
          <a:xfrm>
            <a:off x="657725" y="188450"/>
            <a:ext cx="10908631" cy="1296222"/>
          </a:xfrm>
        </p:spPr>
        <p:txBody>
          <a:bodyPr>
            <a:noAutofit/>
          </a:bodyPr>
          <a:lstStyle/>
          <a:p>
            <a:r>
              <a:rPr lang="en-IN" sz="2800" b="1" dirty="0">
                <a:solidFill>
                  <a:srgbClr val="FF0000"/>
                </a:solidFill>
              </a:rPr>
              <a:t>Key Analysis Questions</a:t>
            </a:r>
            <a:br>
              <a:rPr lang="en-AE" sz="2800" b="1" dirty="0"/>
            </a:br>
            <a:r>
              <a:rPr lang="en-AE" sz="2800" b="1" dirty="0"/>
              <a:t>Patient Insights</a:t>
            </a:r>
          </a:p>
        </p:txBody>
      </p:sp>
      <p:sp>
        <p:nvSpPr>
          <p:cNvPr id="3" name="Text Placeholder 2">
            <a:extLst>
              <a:ext uri="{FF2B5EF4-FFF2-40B4-BE49-F238E27FC236}">
                <a16:creationId xmlns:a16="http://schemas.microsoft.com/office/drawing/2014/main" id="{DAF54BB7-72DC-B53C-6BBF-96A76DCD3D1D}"/>
              </a:ext>
            </a:extLst>
          </p:cNvPr>
          <p:cNvSpPr>
            <a:spLocks noGrp="1"/>
          </p:cNvSpPr>
          <p:nvPr>
            <p:ph type="body" idx="1"/>
          </p:nvPr>
        </p:nvSpPr>
        <p:spPr>
          <a:xfrm>
            <a:off x="625644" y="1484672"/>
            <a:ext cx="10908631" cy="4316361"/>
          </a:xfrm>
        </p:spPr>
        <p:txBody>
          <a:bodyPr>
            <a:normAutofit fontScale="25000" lnSpcReduction="20000"/>
          </a:bodyPr>
          <a:lstStyle/>
          <a:p>
            <a:pPr marL="114300" indent="0">
              <a:buNone/>
            </a:pPr>
            <a:r>
              <a:rPr lang="en-US" sz="9600" b="1" dirty="0"/>
              <a:t>What is the total number of patients</a:t>
            </a:r>
            <a:r>
              <a:rPr lang="en-AE" sz="9600" b="1" dirty="0"/>
              <a:t>?</a:t>
            </a:r>
          </a:p>
          <a:p>
            <a:pPr marL="114300" indent="0">
              <a:buNone/>
            </a:pPr>
            <a:endParaRPr lang="en-AE" sz="9600" b="1" dirty="0"/>
          </a:p>
          <a:p>
            <a:pPr marL="114300" indent="0">
              <a:buNone/>
            </a:pPr>
            <a:r>
              <a:rPr lang="en-AE" sz="9600" b="1" dirty="0"/>
              <a:t>Query : </a:t>
            </a:r>
          </a:p>
          <a:p>
            <a:pPr marL="114300" indent="0">
              <a:buNone/>
            </a:pPr>
            <a:endParaRPr lang="en-AE" sz="9600" b="1" dirty="0"/>
          </a:p>
          <a:p>
            <a:pPr marL="114300" indent="0">
              <a:buNone/>
            </a:pPr>
            <a:r>
              <a:rPr lang="en-AE" sz="9600" b="1" dirty="0"/>
              <a:t>Output :</a:t>
            </a:r>
          </a:p>
          <a:p>
            <a:pPr marL="114300" indent="0">
              <a:buNone/>
            </a:pPr>
            <a:endParaRPr lang="en-AE" sz="9600" b="1" dirty="0"/>
          </a:p>
          <a:p>
            <a:pPr algn="just"/>
            <a:r>
              <a:rPr lang="en-AE" sz="9600" dirty="0"/>
              <a:t>The Hospital Patient Care Operations currently contains </a:t>
            </a:r>
            <a:r>
              <a:rPr lang="en-AE" sz="9600" b="1" dirty="0"/>
              <a:t>400 patients</a:t>
            </a:r>
            <a:r>
              <a:rPr lang="en-AE" sz="9600" dirty="0"/>
              <a:t>. </a:t>
            </a:r>
          </a:p>
          <a:p>
            <a:pPr lvl="0" algn="just">
              <a:lnSpc>
                <a:spcPct val="120000"/>
              </a:lnSpc>
            </a:pPr>
            <a:r>
              <a:rPr lang="en-AE" sz="9600" dirty="0"/>
              <a:t>The COUNT(distinct patient_id) query successfully retrieves the </a:t>
            </a:r>
            <a:r>
              <a:rPr lang="en-AE" sz="9600" b="1" dirty="0"/>
              <a:t>total number of patients</a:t>
            </a:r>
            <a:r>
              <a:rPr lang="en-AE" sz="9600" dirty="0"/>
              <a:t> from the PATIENTS table. </a:t>
            </a:r>
          </a:p>
          <a:p>
            <a:pPr marL="114300" indent="0">
              <a:buNone/>
            </a:pPr>
            <a:endParaRPr lang="en-AE" sz="9600" b="1" dirty="0"/>
          </a:p>
          <a:p>
            <a:pPr marL="114300" indent="0">
              <a:buNone/>
            </a:pPr>
            <a:endParaRPr lang="en-AE" sz="5100" b="1" dirty="0"/>
          </a:p>
          <a:p>
            <a:pPr marL="114300" indent="0">
              <a:buNone/>
            </a:pPr>
            <a:endParaRPr lang="en-AE" sz="5100" b="1" dirty="0"/>
          </a:p>
          <a:p>
            <a:pPr marL="114300" indent="0">
              <a:buNone/>
            </a:pPr>
            <a:r>
              <a:rPr lang="en-AE" sz="2400" b="1" dirty="0"/>
              <a:t> </a:t>
            </a:r>
          </a:p>
        </p:txBody>
      </p:sp>
      <p:pic>
        <p:nvPicPr>
          <p:cNvPr id="7" name="Picture 6">
            <a:extLst>
              <a:ext uri="{FF2B5EF4-FFF2-40B4-BE49-F238E27FC236}">
                <a16:creationId xmlns:a16="http://schemas.microsoft.com/office/drawing/2014/main" id="{8E002E12-D58A-76D7-3863-894BDA6C93B2}"/>
              </a:ext>
            </a:extLst>
          </p:cNvPr>
          <p:cNvPicPr>
            <a:picLocks noChangeAspect="1"/>
          </p:cNvPicPr>
          <p:nvPr/>
        </p:nvPicPr>
        <p:blipFill>
          <a:blip r:embed="rId2"/>
          <a:stretch>
            <a:fillRect/>
          </a:stretch>
        </p:blipFill>
        <p:spPr>
          <a:xfrm>
            <a:off x="2143431" y="2264229"/>
            <a:ext cx="5393659" cy="367559"/>
          </a:xfrm>
          <a:prstGeom prst="rect">
            <a:avLst/>
          </a:prstGeom>
        </p:spPr>
      </p:pic>
      <p:pic>
        <p:nvPicPr>
          <p:cNvPr id="10" name="Picture 9">
            <a:extLst>
              <a:ext uri="{FF2B5EF4-FFF2-40B4-BE49-F238E27FC236}">
                <a16:creationId xmlns:a16="http://schemas.microsoft.com/office/drawing/2014/main" id="{B3A71DFA-03D5-4DD1-308E-2D91D47D3FFC}"/>
              </a:ext>
            </a:extLst>
          </p:cNvPr>
          <p:cNvPicPr>
            <a:picLocks noChangeAspect="1"/>
          </p:cNvPicPr>
          <p:nvPr/>
        </p:nvPicPr>
        <p:blipFill>
          <a:blip r:embed="rId3"/>
          <a:stretch>
            <a:fillRect/>
          </a:stretch>
        </p:blipFill>
        <p:spPr>
          <a:xfrm>
            <a:off x="2143431" y="2993571"/>
            <a:ext cx="1916940" cy="711277"/>
          </a:xfrm>
          <a:prstGeom prst="rect">
            <a:avLst/>
          </a:prstGeom>
        </p:spPr>
      </p:pic>
    </p:spTree>
    <p:extLst>
      <p:ext uri="{BB962C8B-B14F-4D97-AF65-F5344CB8AC3E}">
        <p14:creationId xmlns:p14="http://schemas.microsoft.com/office/powerpoint/2010/main" val="136035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66CA-ECA2-E515-4A9C-743AFF708E73}"/>
              </a:ext>
            </a:extLst>
          </p:cNvPr>
          <p:cNvSpPr>
            <a:spLocks noGrp="1"/>
          </p:cNvSpPr>
          <p:nvPr>
            <p:ph type="title"/>
          </p:nvPr>
        </p:nvSpPr>
        <p:spPr>
          <a:xfrm>
            <a:off x="838200" y="167148"/>
            <a:ext cx="10515600" cy="771834"/>
          </a:xfrm>
        </p:spPr>
        <p:txBody>
          <a:bodyPr>
            <a:normAutofit/>
          </a:bodyPr>
          <a:lstStyle/>
          <a:p>
            <a:r>
              <a:rPr lang="en-AE" sz="2800" b="1" dirty="0"/>
              <a:t>What is the total number of appointments?</a:t>
            </a:r>
          </a:p>
        </p:txBody>
      </p:sp>
      <p:sp>
        <p:nvSpPr>
          <p:cNvPr id="3" name="Text Placeholder 2">
            <a:extLst>
              <a:ext uri="{FF2B5EF4-FFF2-40B4-BE49-F238E27FC236}">
                <a16:creationId xmlns:a16="http://schemas.microsoft.com/office/drawing/2014/main" id="{04A3E14F-2A27-B95B-167A-7C3600755845}"/>
              </a:ext>
            </a:extLst>
          </p:cNvPr>
          <p:cNvSpPr>
            <a:spLocks noGrp="1"/>
          </p:cNvSpPr>
          <p:nvPr>
            <p:ph type="body" idx="1"/>
          </p:nvPr>
        </p:nvSpPr>
        <p:spPr>
          <a:xfrm>
            <a:off x="838200" y="1101213"/>
            <a:ext cx="10515600" cy="5043947"/>
          </a:xfrm>
        </p:spPr>
        <p:txBody>
          <a:bodyPr>
            <a:normAutofit/>
          </a:bodyPr>
          <a:lstStyle/>
          <a:p>
            <a:pPr marL="114300" indent="0">
              <a:buNone/>
            </a:pPr>
            <a:r>
              <a:rPr lang="en-IN" b="1" dirty="0"/>
              <a:t>Query : </a:t>
            </a:r>
          </a:p>
          <a:p>
            <a:pPr marL="114300" indent="0">
              <a:buNone/>
            </a:pPr>
            <a:endParaRPr lang="en-IN" b="1" dirty="0"/>
          </a:p>
          <a:p>
            <a:pPr marL="114300" indent="0">
              <a:buNone/>
            </a:pPr>
            <a:r>
              <a:rPr lang="en-IN" b="1" dirty="0"/>
              <a:t>Output : </a:t>
            </a:r>
          </a:p>
          <a:p>
            <a:pPr marL="114300" indent="0">
              <a:buNone/>
            </a:pPr>
            <a:endParaRPr lang="en-IN" b="1" dirty="0"/>
          </a:p>
          <a:p>
            <a:pPr lvl="0" algn="just"/>
            <a:r>
              <a:rPr lang="en-AE" sz="2400" dirty="0"/>
              <a:t>The total number of appointments were identified from the appointments data. </a:t>
            </a:r>
          </a:p>
          <a:p>
            <a:pPr lvl="0" algn="just"/>
            <a:r>
              <a:rPr lang="en-AE" sz="2400" dirty="0"/>
              <a:t>The total number of appointments helps understand the total appointments the hospital have. </a:t>
            </a:r>
          </a:p>
          <a:p>
            <a:pPr marL="114300" indent="0">
              <a:buNone/>
            </a:pPr>
            <a:endParaRPr lang="en-AE" b="1" dirty="0"/>
          </a:p>
        </p:txBody>
      </p:sp>
      <p:pic>
        <p:nvPicPr>
          <p:cNvPr id="6" name="Picture 5">
            <a:extLst>
              <a:ext uri="{FF2B5EF4-FFF2-40B4-BE49-F238E27FC236}">
                <a16:creationId xmlns:a16="http://schemas.microsoft.com/office/drawing/2014/main" id="{23D33BC2-CB40-C13F-BCD0-C89114FD6164}"/>
              </a:ext>
            </a:extLst>
          </p:cNvPr>
          <p:cNvPicPr>
            <a:picLocks noChangeAspect="1"/>
          </p:cNvPicPr>
          <p:nvPr/>
        </p:nvPicPr>
        <p:blipFill>
          <a:blip r:embed="rId2"/>
          <a:stretch>
            <a:fillRect/>
          </a:stretch>
        </p:blipFill>
        <p:spPr>
          <a:xfrm>
            <a:off x="2615379" y="1248008"/>
            <a:ext cx="4395021" cy="548135"/>
          </a:xfrm>
          <a:prstGeom prst="rect">
            <a:avLst/>
          </a:prstGeom>
        </p:spPr>
      </p:pic>
      <p:pic>
        <p:nvPicPr>
          <p:cNvPr id="9" name="Picture 8">
            <a:extLst>
              <a:ext uri="{FF2B5EF4-FFF2-40B4-BE49-F238E27FC236}">
                <a16:creationId xmlns:a16="http://schemas.microsoft.com/office/drawing/2014/main" id="{E2E95E96-1BEA-4328-9822-8F82501BDD29}"/>
              </a:ext>
            </a:extLst>
          </p:cNvPr>
          <p:cNvPicPr>
            <a:picLocks noChangeAspect="1"/>
          </p:cNvPicPr>
          <p:nvPr/>
        </p:nvPicPr>
        <p:blipFill>
          <a:blip r:embed="rId3"/>
          <a:stretch>
            <a:fillRect/>
          </a:stretch>
        </p:blipFill>
        <p:spPr>
          <a:xfrm>
            <a:off x="2781237" y="2144487"/>
            <a:ext cx="1823420" cy="903514"/>
          </a:xfrm>
          <a:prstGeom prst="rect">
            <a:avLst/>
          </a:prstGeom>
        </p:spPr>
      </p:pic>
    </p:spTree>
    <p:extLst>
      <p:ext uri="{BB962C8B-B14F-4D97-AF65-F5344CB8AC3E}">
        <p14:creationId xmlns:p14="http://schemas.microsoft.com/office/powerpoint/2010/main" val="959097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3AE0-4C00-227B-162D-69080CAF61D5}"/>
              </a:ext>
            </a:extLst>
          </p:cNvPr>
          <p:cNvSpPr>
            <a:spLocks noGrp="1"/>
          </p:cNvSpPr>
          <p:nvPr>
            <p:ph type="title"/>
          </p:nvPr>
        </p:nvSpPr>
        <p:spPr>
          <a:xfrm>
            <a:off x="838200" y="365125"/>
            <a:ext cx="10515600" cy="627933"/>
          </a:xfrm>
        </p:spPr>
        <p:txBody>
          <a:bodyPr>
            <a:normAutofit/>
          </a:bodyPr>
          <a:lstStyle/>
          <a:p>
            <a:r>
              <a:rPr lang="en-AE" sz="2800" b="1" dirty="0"/>
              <a:t>What is the total number of treatment records?</a:t>
            </a:r>
          </a:p>
        </p:txBody>
      </p:sp>
      <p:sp>
        <p:nvSpPr>
          <p:cNvPr id="3" name="Text Placeholder 2">
            <a:extLst>
              <a:ext uri="{FF2B5EF4-FFF2-40B4-BE49-F238E27FC236}">
                <a16:creationId xmlns:a16="http://schemas.microsoft.com/office/drawing/2014/main" id="{6CD5DD7B-9A26-0858-FC72-8457DEE27883}"/>
              </a:ext>
            </a:extLst>
          </p:cNvPr>
          <p:cNvSpPr>
            <a:spLocks noGrp="1"/>
          </p:cNvSpPr>
          <p:nvPr>
            <p:ph type="body" idx="1"/>
          </p:nvPr>
        </p:nvSpPr>
        <p:spPr>
          <a:xfrm>
            <a:off x="838200" y="1209368"/>
            <a:ext cx="10515600" cy="4967595"/>
          </a:xfrm>
        </p:spPr>
        <p:txBody>
          <a:bodyPr>
            <a:normAutofit/>
          </a:bodyPr>
          <a:lstStyle/>
          <a:p>
            <a:pPr marL="114300" indent="0">
              <a:buNone/>
            </a:pPr>
            <a:r>
              <a:rPr lang="en-IN" sz="2400" b="1" dirty="0"/>
              <a:t>Query : </a:t>
            </a:r>
            <a:endParaRPr lang="en-AE" sz="2400" b="1" dirty="0"/>
          </a:p>
          <a:p>
            <a:pPr marL="114300" indent="0">
              <a:buNone/>
            </a:pPr>
            <a:endParaRPr lang="en-AE" sz="2400" b="1" dirty="0"/>
          </a:p>
          <a:p>
            <a:pPr marL="114300" indent="0">
              <a:buNone/>
            </a:pPr>
            <a:r>
              <a:rPr lang="en-AE" sz="2400" b="1" dirty="0"/>
              <a:t>Output :</a:t>
            </a:r>
          </a:p>
          <a:p>
            <a:pPr marL="114300" indent="0">
              <a:buNone/>
            </a:pPr>
            <a:endParaRPr lang="en-AE" sz="2400" b="1" dirty="0"/>
          </a:p>
          <a:p>
            <a:pPr marL="114300" indent="0">
              <a:buNone/>
            </a:pPr>
            <a:endParaRPr lang="en-AE" sz="2400" b="1" dirty="0"/>
          </a:p>
          <a:p>
            <a:pPr algn="just"/>
            <a:r>
              <a:rPr lang="en-AE" sz="2400" b="1" dirty="0"/>
              <a:t> </a:t>
            </a:r>
            <a:r>
              <a:rPr lang="en-AE" sz="2400" dirty="0"/>
              <a:t>The query calculates the total number of treatments records of the patients who are appointed in the hospital.</a:t>
            </a:r>
            <a:endParaRPr lang="en-IN" sz="2400" b="1" dirty="0"/>
          </a:p>
        </p:txBody>
      </p:sp>
      <p:pic>
        <p:nvPicPr>
          <p:cNvPr id="6" name="Picture 5">
            <a:extLst>
              <a:ext uri="{FF2B5EF4-FFF2-40B4-BE49-F238E27FC236}">
                <a16:creationId xmlns:a16="http://schemas.microsoft.com/office/drawing/2014/main" id="{56096C8E-7278-1D1B-B1B0-4CF5CD27423B}"/>
              </a:ext>
            </a:extLst>
          </p:cNvPr>
          <p:cNvPicPr>
            <a:picLocks noChangeAspect="1"/>
          </p:cNvPicPr>
          <p:nvPr/>
        </p:nvPicPr>
        <p:blipFill>
          <a:blip r:embed="rId2"/>
          <a:stretch>
            <a:fillRect/>
          </a:stretch>
        </p:blipFill>
        <p:spPr>
          <a:xfrm>
            <a:off x="2307074" y="1354111"/>
            <a:ext cx="4257012" cy="432171"/>
          </a:xfrm>
          <a:prstGeom prst="rect">
            <a:avLst/>
          </a:prstGeom>
        </p:spPr>
      </p:pic>
      <p:pic>
        <p:nvPicPr>
          <p:cNvPr id="9" name="Picture 8">
            <a:extLst>
              <a:ext uri="{FF2B5EF4-FFF2-40B4-BE49-F238E27FC236}">
                <a16:creationId xmlns:a16="http://schemas.microsoft.com/office/drawing/2014/main" id="{E9C15194-3B3B-1344-E3D6-49EA17F62862}"/>
              </a:ext>
            </a:extLst>
          </p:cNvPr>
          <p:cNvPicPr>
            <a:picLocks noChangeAspect="1"/>
          </p:cNvPicPr>
          <p:nvPr/>
        </p:nvPicPr>
        <p:blipFill>
          <a:blip r:embed="rId3"/>
          <a:stretch>
            <a:fillRect/>
          </a:stretch>
        </p:blipFill>
        <p:spPr>
          <a:xfrm>
            <a:off x="2471190" y="2260918"/>
            <a:ext cx="1964390" cy="927480"/>
          </a:xfrm>
          <a:prstGeom prst="rect">
            <a:avLst/>
          </a:prstGeom>
        </p:spPr>
      </p:pic>
    </p:spTree>
    <p:extLst>
      <p:ext uri="{BB962C8B-B14F-4D97-AF65-F5344CB8AC3E}">
        <p14:creationId xmlns:p14="http://schemas.microsoft.com/office/powerpoint/2010/main" val="1661680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C510-4B11-8C97-E577-11B9C1F0828C}"/>
              </a:ext>
            </a:extLst>
          </p:cNvPr>
          <p:cNvSpPr>
            <a:spLocks noGrp="1"/>
          </p:cNvSpPr>
          <p:nvPr>
            <p:ph type="title"/>
          </p:nvPr>
        </p:nvSpPr>
        <p:spPr>
          <a:xfrm>
            <a:off x="838200" y="681037"/>
            <a:ext cx="10515600" cy="529611"/>
          </a:xfrm>
        </p:spPr>
        <p:txBody>
          <a:bodyPr>
            <a:normAutofit/>
          </a:bodyPr>
          <a:lstStyle/>
          <a:p>
            <a:r>
              <a:rPr lang="en-AE" sz="2800" b="1" dirty="0"/>
              <a:t>What are the different medical service types?</a:t>
            </a:r>
          </a:p>
        </p:txBody>
      </p:sp>
      <p:sp>
        <p:nvSpPr>
          <p:cNvPr id="3" name="Text Placeholder 2">
            <a:extLst>
              <a:ext uri="{FF2B5EF4-FFF2-40B4-BE49-F238E27FC236}">
                <a16:creationId xmlns:a16="http://schemas.microsoft.com/office/drawing/2014/main" id="{C02D875D-1F1A-6548-18DC-07EDA0C56C7A}"/>
              </a:ext>
            </a:extLst>
          </p:cNvPr>
          <p:cNvSpPr>
            <a:spLocks noGrp="1"/>
          </p:cNvSpPr>
          <p:nvPr>
            <p:ph type="body" idx="1"/>
          </p:nvPr>
        </p:nvSpPr>
        <p:spPr>
          <a:xfrm>
            <a:off x="838200" y="1061884"/>
            <a:ext cx="10515600" cy="5115079"/>
          </a:xfrm>
        </p:spPr>
        <p:txBody>
          <a:bodyPr>
            <a:normAutofit/>
          </a:bodyPr>
          <a:lstStyle/>
          <a:p>
            <a:pPr marL="114300" indent="0">
              <a:buNone/>
            </a:pPr>
            <a:endParaRPr lang="en-IN" sz="2400" b="1" dirty="0"/>
          </a:p>
          <a:p>
            <a:pPr marL="114300" indent="0">
              <a:buNone/>
            </a:pPr>
            <a:r>
              <a:rPr lang="en-IN" sz="2400" b="1" dirty="0"/>
              <a:t>Query : </a:t>
            </a:r>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marL="114300" indent="0">
              <a:buNone/>
            </a:pPr>
            <a:r>
              <a:rPr lang="en-IN" sz="2400" b="1" dirty="0"/>
              <a:t> </a:t>
            </a:r>
          </a:p>
          <a:p>
            <a:pPr algn="just"/>
            <a:r>
              <a:rPr lang="en-AE" sz="2400" dirty="0"/>
              <a:t>The query identifies the different medical service types, helping recognize the available medical services in the hospital.</a:t>
            </a:r>
            <a:endParaRPr lang="en-AE" sz="2400" b="1" dirty="0"/>
          </a:p>
        </p:txBody>
      </p:sp>
      <p:pic>
        <p:nvPicPr>
          <p:cNvPr id="6" name="Picture 5">
            <a:extLst>
              <a:ext uri="{FF2B5EF4-FFF2-40B4-BE49-F238E27FC236}">
                <a16:creationId xmlns:a16="http://schemas.microsoft.com/office/drawing/2014/main" id="{44534D44-0FA0-E863-304F-EF489F50F47C}"/>
              </a:ext>
            </a:extLst>
          </p:cNvPr>
          <p:cNvPicPr>
            <a:picLocks noChangeAspect="1"/>
          </p:cNvPicPr>
          <p:nvPr/>
        </p:nvPicPr>
        <p:blipFill>
          <a:blip r:embed="rId2"/>
          <a:stretch>
            <a:fillRect/>
          </a:stretch>
        </p:blipFill>
        <p:spPr>
          <a:xfrm>
            <a:off x="2345184" y="1537592"/>
            <a:ext cx="4055616" cy="683094"/>
          </a:xfrm>
          <a:prstGeom prst="rect">
            <a:avLst/>
          </a:prstGeom>
        </p:spPr>
      </p:pic>
      <p:pic>
        <p:nvPicPr>
          <p:cNvPr id="9" name="Picture 8">
            <a:extLst>
              <a:ext uri="{FF2B5EF4-FFF2-40B4-BE49-F238E27FC236}">
                <a16:creationId xmlns:a16="http://schemas.microsoft.com/office/drawing/2014/main" id="{0C7CEC8F-D190-7778-176E-F8A3335DE065}"/>
              </a:ext>
            </a:extLst>
          </p:cNvPr>
          <p:cNvPicPr>
            <a:picLocks noChangeAspect="1"/>
          </p:cNvPicPr>
          <p:nvPr/>
        </p:nvPicPr>
        <p:blipFill>
          <a:blip r:embed="rId3"/>
          <a:stretch>
            <a:fillRect/>
          </a:stretch>
        </p:blipFill>
        <p:spPr>
          <a:xfrm>
            <a:off x="2805734" y="2394857"/>
            <a:ext cx="2005751" cy="1905000"/>
          </a:xfrm>
          <a:prstGeom prst="rect">
            <a:avLst/>
          </a:prstGeom>
        </p:spPr>
      </p:pic>
    </p:spTree>
    <p:extLst>
      <p:ext uri="{BB962C8B-B14F-4D97-AF65-F5344CB8AC3E}">
        <p14:creationId xmlns:p14="http://schemas.microsoft.com/office/powerpoint/2010/main" val="1378041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087AB-B107-7E26-4F28-A36B9F9634FB}"/>
              </a:ext>
            </a:extLst>
          </p:cNvPr>
          <p:cNvSpPr>
            <a:spLocks noGrp="1"/>
          </p:cNvSpPr>
          <p:nvPr>
            <p:ph type="title"/>
          </p:nvPr>
        </p:nvSpPr>
        <p:spPr>
          <a:xfrm>
            <a:off x="838200" y="365126"/>
            <a:ext cx="10515600" cy="762634"/>
          </a:xfrm>
        </p:spPr>
        <p:txBody>
          <a:bodyPr>
            <a:noAutofit/>
          </a:bodyPr>
          <a:lstStyle/>
          <a:p>
            <a:br>
              <a:rPr lang="en-AE" sz="2800" b="1" dirty="0"/>
            </a:br>
            <a:r>
              <a:rPr lang="en-AE" sz="2800" b="1" dirty="0"/>
              <a:t>How many doctors are currently active?</a:t>
            </a:r>
            <a:br>
              <a:rPr lang="en-AE" sz="2800" b="1" dirty="0"/>
            </a:br>
            <a:endParaRPr lang="en-AE" sz="2800" b="1" dirty="0"/>
          </a:p>
        </p:txBody>
      </p:sp>
      <p:sp>
        <p:nvSpPr>
          <p:cNvPr id="3" name="Text Placeholder 2">
            <a:extLst>
              <a:ext uri="{FF2B5EF4-FFF2-40B4-BE49-F238E27FC236}">
                <a16:creationId xmlns:a16="http://schemas.microsoft.com/office/drawing/2014/main" id="{EECFF70D-0C9D-85AB-B68B-87F2E40D539F}"/>
              </a:ext>
            </a:extLst>
          </p:cNvPr>
          <p:cNvSpPr>
            <a:spLocks noGrp="1"/>
          </p:cNvSpPr>
          <p:nvPr>
            <p:ph type="body" idx="1"/>
          </p:nvPr>
        </p:nvSpPr>
        <p:spPr>
          <a:xfrm>
            <a:off x="838200" y="1209041"/>
            <a:ext cx="10515600" cy="4439920"/>
          </a:xfrm>
        </p:spPr>
        <p:txBody>
          <a:bodyPr>
            <a:noAutofit/>
          </a:bodyPr>
          <a:lstStyle/>
          <a:p>
            <a:pPr marL="114300" indent="0">
              <a:buNone/>
            </a:pPr>
            <a:r>
              <a:rPr lang="en-IN" sz="2400" b="1" dirty="0"/>
              <a:t>Query : </a:t>
            </a:r>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algn="just"/>
            <a:r>
              <a:rPr lang="en-AE" sz="2400" dirty="0"/>
              <a:t>The query calculates the doctors who are currently active, providing an overview of the active doctors. </a:t>
            </a:r>
            <a:endParaRPr lang="en-AE" sz="2400" b="1" dirty="0"/>
          </a:p>
        </p:txBody>
      </p:sp>
      <p:pic>
        <p:nvPicPr>
          <p:cNvPr id="6" name="Picture 5">
            <a:extLst>
              <a:ext uri="{FF2B5EF4-FFF2-40B4-BE49-F238E27FC236}">
                <a16:creationId xmlns:a16="http://schemas.microsoft.com/office/drawing/2014/main" id="{9110E031-872C-5C3E-30CC-5A84B01607F5}"/>
              </a:ext>
            </a:extLst>
          </p:cNvPr>
          <p:cNvPicPr>
            <a:picLocks noChangeAspect="1"/>
          </p:cNvPicPr>
          <p:nvPr/>
        </p:nvPicPr>
        <p:blipFill>
          <a:blip r:embed="rId2"/>
          <a:stretch>
            <a:fillRect/>
          </a:stretch>
        </p:blipFill>
        <p:spPr>
          <a:xfrm>
            <a:off x="2287910" y="1317896"/>
            <a:ext cx="6388004" cy="572966"/>
          </a:xfrm>
          <a:prstGeom prst="rect">
            <a:avLst/>
          </a:prstGeom>
        </p:spPr>
      </p:pic>
      <p:pic>
        <p:nvPicPr>
          <p:cNvPr id="9" name="Picture 8">
            <a:extLst>
              <a:ext uri="{FF2B5EF4-FFF2-40B4-BE49-F238E27FC236}">
                <a16:creationId xmlns:a16="http://schemas.microsoft.com/office/drawing/2014/main" id="{23C73E3E-4362-9CED-F5FE-4E0B05D6FE17}"/>
              </a:ext>
            </a:extLst>
          </p:cNvPr>
          <p:cNvPicPr>
            <a:picLocks noChangeAspect="1"/>
          </p:cNvPicPr>
          <p:nvPr/>
        </p:nvPicPr>
        <p:blipFill>
          <a:blip r:embed="rId3"/>
          <a:stretch>
            <a:fillRect/>
          </a:stretch>
        </p:blipFill>
        <p:spPr>
          <a:xfrm>
            <a:off x="2617959" y="2329543"/>
            <a:ext cx="1768984" cy="913507"/>
          </a:xfrm>
          <a:prstGeom prst="rect">
            <a:avLst/>
          </a:prstGeom>
        </p:spPr>
      </p:pic>
    </p:spTree>
    <p:extLst>
      <p:ext uri="{BB962C8B-B14F-4D97-AF65-F5344CB8AC3E}">
        <p14:creationId xmlns:p14="http://schemas.microsoft.com/office/powerpoint/2010/main" val="885549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7195-8253-4510-AE57-137BAD877C41}"/>
              </a:ext>
            </a:extLst>
          </p:cNvPr>
          <p:cNvSpPr>
            <a:spLocks noGrp="1"/>
          </p:cNvSpPr>
          <p:nvPr>
            <p:ph type="title"/>
          </p:nvPr>
        </p:nvSpPr>
        <p:spPr>
          <a:xfrm>
            <a:off x="838200" y="275303"/>
            <a:ext cx="10515600" cy="914400"/>
          </a:xfrm>
        </p:spPr>
        <p:txBody>
          <a:bodyPr>
            <a:normAutofit/>
          </a:bodyPr>
          <a:lstStyle/>
          <a:p>
            <a:br>
              <a:rPr lang="en-AE" sz="2800" b="1" dirty="0">
                <a:solidFill>
                  <a:srgbClr val="FF0000"/>
                </a:solidFill>
              </a:rPr>
            </a:br>
            <a:endParaRPr lang="en-AE" sz="2800" b="1" dirty="0"/>
          </a:p>
        </p:txBody>
      </p:sp>
      <p:sp>
        <p:nvSpPr>
          <p:cNvPr id="3" name="Text Placeholder 2">
            <a:extLst>
              <a:ext uri="{FF2B5EF4-FFF2-40B4-BE49-F238E27FC236}">
                <a16:creationId xmlns:a16="http://schemas.microsoft.com/office/drawing/2014/main" id="{AA3DAA65-321B-4A31-5E75-6E6B35DA9C0B}"/>
              </a:ext>
            </a:extLst>
          </p:cNvPr>
          <p:cNvSpPr>
            <a:spLocks noGrp="1"/>
          </p:cNvSpPr>
          <p:nvPr>
            <p:ph type="body" idx="1"/>
          </p:nvPr>
        </p:nvSpPr>
        <p:spPr>
          <a:xfrm>
            <a:off x="838200" y="1189703"/>
            <a:ext cx="10515600" cy="4987259"/>
          </a:xfrm>
        </p:spPr>
        <p:txBody>
          <a:bodyPr/>
          <a:lstStyle/>
          <a:p>
            <a:pPr marL="114300" indent="0">
              <a:buNone/>
            </a:pPr>
            <a:r>
              <a:rPr lang="en-AE" b="1" dirty="0"/>
              <a:t>What are the different room types?</a:t>
            </a:r>
          </a:p>
          <a:p>
            <a:pPr marL="114300" indent="0">
              <a:buNone/>
            </a:pPr>
            <a:endParaRPr lang="en-AE" sz="2400" b="1" dirty="0"/>
          </a:p>
          <a:p>
            <a:pPr marL="114300" indent="0">
              <a:buNone/>
            </a:pPr>
            <a:r>
              <a:rPr lang="en-AE" sz="2400" b="1" dirty="0"/>
              <a:t>Query : </a:t>
            </a:r>
          </a:p>
          <a:p>
            <a:pPr marL="114300" indent="0">
              <a:buNone/>
            </a:pPr>
            <a:endParaRPr lang="en-AE" sz="2400" b="1" dirty="0"/>
          </a:p>
          <a:p>
            <a:pPr marL="114300" indent="0">
              <a:buNone/>
            </a:pPr>
            <a:r>
              <a:rPr lang="en-AE" sz="2400" b="1" dirty="0"/>
              <a:t>Output : </a:t>
            </a:r>
          </a:p>
          <a:p>
            <a:pPr marL="114300" indent="0">
              <a:buNone/>
            </a:pPr>
            <a:endParaRPr lang="en-AE" sz="2400" b="1" dirty="0"/>
          </a:p>
          <a:p>
            <a:pPr marL="114300" indent="0">
              <a:buNone/>
            </a:pPr>
            <a:endParaRPr lang="en-AE" sz="2400" b="1" dirty="0"/>
          </a:p>
          <a:p>
            <a:pPr marL="114300" indent="0">
              <a:buNone/>
            </a:pPr>
            <a:endParaRPr lang="en-AE" sz="2400" b="1" dirty="0"/>
          </a:p>
          <a:p>
            <a:pPr algn="just"/>
            <a:r>
              <a:rPr lang="en-AE" sz="2400" dirty="0"/>
              <a:t>The query identifies the different types of rooms available, helping understand the different types of rooms</a:t>
            </a:r>
            <a:r>
              <a:rPr lang="en-AE" sz="2400" b="1" dirty="0"/>
              <a:t> </a:t>
            </a:r>
            <a:r>
              <a:rPr lang="en-AE" sz="2400" dirty="0"/>
              <a:t>different patients.</a:t>
            </a:r>
            <a:endParaRPr lang="en-AE" sz="2400" b="1" dirty="0"/>
          </a:p>
        </p:txBody>
      </p:sp>
      <p:pic>
        <p:nvPicPr>
          <p:cNvPr id="8" name="Picture 7">
            <a:extLst>
              <a:ext uri="{FF2B5EF4-FFF2-40B4-BE49-F238E27FC236}">
                <a16:creationId xmlns:a16="http://schemas.microsoft.com/office/drawing/2014/main" id="{ED5DD504-C6B9-2BCA-ACDE-765873C9EF99}"/>
              </a:ext>
            </a:extLst>
          </p:cNvPr>
          <p:cNvPicPr>
            <a:picLocks noChangeAspect="1"/>
          </p:cNvPicPr>
          <p:nvPr/>
        </p:nvPicPr>
        <p:blipFill>
          <a:blip r:embed="rId2"/>
          <a:stretch>
            <a:fillRect/>
          </a:stretch>
        </p:blipFill>
        <p:spPr>
          <a:xfrm>
            <a:off x="2418080" y="2275568"/>
            <a:ext cx="3895634" cy="531870"/>
          </a:xfrm>
          <a:prstGeom prst="rect">
            <a:avLst/>
          </a:prstGeom>
        </p:spPr>
      </p:pic>
      <p:pic>
        <p:nvPicPr>
          <p:cNvPr id="10" name="Picture 9">
            <a:extLst>
              <a:ext uri="{FF2B5EF4-FFF2-40B4-BE49-F238E27FC236}">
                <a16:creationId xmlns:a16="http://schemas.microsoft.com/office/drawing/2014/main" id="{A9624EB8-CC7D-B9BE-849E-CFC112BB1CCD}"/>
              </a:ext>
            </a:extLst>
          </p:cNvPr>
          <p:cNvPicPr>
            <a:picLocks noChangeAspect="1"/>
          </p:cNvPicPr>
          <p:nvPr/>
        </p:nvPicPr>
        <p:blipFill>
          <a:blip r:embed="rId3"/>
          <a:stretch>
            <a:fillRect/>
          </a:stretch>
        </p:blipFill>
        <p:spPr>
          <a:xfrm>
            <a:off x="2418080" y="3027954"/>
            <a:ext cx="2436949" cy="1696445"/>
          </a:xfrm>
          <a:prstGeom prst="rect">
            <a:avLst/>
          </a:prstGeom>
        </p:spPr>
      </p:pic>
    </p:spTree>
    <p:extLst>
      <p:ext uri="{BB962C8B-B14F-4D97-AF65-F5344CB8AC3E}">
        <p14:creationId xmlns:p14="http://schemas.microsoft.com/office/powerpoint/2010/main" val="284246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EB21-B098-D0CA-1780-101D831D0570}"/>
              </a:ext>
            </a:extLst>
          </p:cNvPr>
          <p:cNvSpPr>
            <a:spLocks noGrp="1"/>
          </p:cNvSpPr>
          <p:nvPr>
            <p:ph type="title"/>
          </p:nvPr>
        </p:nvSpPr>
        <p:spPr>
          <a:xfrm>
            <a:off x="838200" y="365126"/>
            <a:ext cx="10515600" cy="745919"/>
          </a:xfrm>
        </p:spPr>
        <p:txBody>
          <a:bodyPr>
            <a:normAutofit/>
          </a:bodyPr>
          <a:lstStyle/>
          <a:p>
            <a:r>
              <a:rPr lang="en-AE" sz="2800" b="1" dirty="0"/>
              <a:t>What </a:t>
            </a:r>
            <a:r>
              <a:rPr lang="en-IN" sz="2800" b="1" dirty="0"/>
              <a:t>is the total estimated appointment value</a:t>
            </a:r>
            <a:r>
              <a:rPr lang="en-AE" sz="2800" b="1" dirty="0"/>
              <a:t>?</a:t>
            </a:r>
          </a:p>
        </p:txBody>
      </p:sp>
      <p:sp>
        <p:nvSpPr>
          <p:cNvPr id="3" name="Text Placeholder 2">
            <a:extLst>
              <a:ext uri="{FF2B5EF4-FFF2-40B4-BE49-F238E27FC236}">
                <a16:creationId xmlns:a16="http://schemas.microsoft.com/office/drawing/2014/main" id="{09BD00A9-C174-F9CC-B2E7-8DC05C39F13C}"/>
              </a:ext>
            </a:extLst>
          </p:cNvPr>
          <p:cNvSpPr>
            <a:spLocks noGrp="1"/>
          </p:cNvSpPr>
          <p:nvPr>
            <p:ph type="body" idx="1"/>
          </p:nvPr>
        </p:nvSpPr>
        <p:spPr>
          <a:xfrm>
            <a:off x="838200" y="1347020"/>
            <a:ext cx="10515600" cy="4829944"/>
          </a:xfrm>
        </p:spPr>
        <p:txBody>
          <a:bodyPr>
            <a:normAutofit/>
          </a:bodyPr>
          <a:lstStyle/>
          <a:p>
            <a:pPr marL="114300" indent="0">
              <a:buNone/>
            </a:pPr>
            <a:r>
              <a:rPr lang="en-IN" sz="2400" b="1" dirty="0"/>
              <a:t>Query : </a:t>
            </a:r>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algn="just"/>
            <a:r>
              <a:rPr lang="en-AE" sz="2400" dirty="0"/>
              <a:t>The query calculates the estimated treatment cost, helping to know the total estimated cost for the treatments in the hospital.</a:t>
            </a:r>
            <a:endParaRPr lang="en-AE" sz="2400" b="1" dirty="0"/>
          </a:p>
        </p:txBody>
      </p:sp>
      <p:pic>
        <p:nvPicPr>
          <p:cNvPr id="6" name="Picture 5">
            <a:extLst>
              <a:ext uri="{FF2B5EF4-FFF2-40B4-BE49-F238E27FC236}">
                <a16:creationId xmlns:a16="http://schemas.microsoft.com/office/drawing/2014/main" id="{836BECFD-CFF6-BFD3-78ED-71D07A03CD44}"/>
              </a:ext>
            </a:extLst>
          </p:cNvPr>
          <p:cNvPicPr>
            <a:picLocks noChangeAspect="1"/>
          </p:cNvPicPr>
          <p:nvPr/>
        </p:nvPicPr>
        <p:blipFill>
          <a:blip r:embed="rId2"/>
          <a:stretch>
            <a:fillRect/>
          </a:stretch>
        </p:blipFill>
        <p:spPr>
          <a:xfrm>
            <a:off x="2587921" y="1347020"/>
            <a:ext cx="4476908" cy="938980"/>
          </a:xfrm>
          <a:prstGeom prst="rect">
            <a:avLst/>
          </a:prstGeom>
        </p:spPr>
      </p:pic>
      <p:pic>
        <p:nvPicPr>
          <p:cNvPr id="9" name="Picture 8">
            <a:extLst>
              <a:ext uri="{FF2B5EF4-FFF2-40B4-BE49-F238E27FC236}">
                <a16:creationId xmlns:a16="http://schemas.microsoft.com/office/drawing/2014/main" id="{DB3A4EA0-BF9C-5388-58DC-D785B10D8540}"/>
              </a:ext>
            </a:extLst>
          </p:cNvPr>
          <p:cNvPicPr>
            <a:picLocks noChangeAspect="1"/>
          </p:cNvPicPr>
          <p:nvPr/>
        </p:nvPicPr>
        <p:blipFill>
          <a:blip r:embed="rId3"/>
          <a:stretch>
            <a:fillRect/>
          </a:stretch>
        </p:blipFill>
        <p:spPr>
          <a:xfrm>
            <a:off x="2587921" y="2395342"/>
            <a:ext cx="2267108" cy="938980"/>
          </a:xfrm>
          <a:prstGeom prst="rect">
            <a:avLst/>
          </a:prstGeom>
        </p:spPr>
      </p:pic>
    </p:spTree>
    <p:extLst>
      <p:ext uri="{BB962C8B-B14F-4D97-AF65-F5344CB8AC3E}">
        <p14:creationId xmlns:p14="http://schemas.microsoft.com/office/powerpoint/2010/main" val="1070882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0A4F-BECB-0C14-6EDA-D329CBC18175}"/>
              </a:ext>
            </a:extLst>
          </p:cNvPr>
          <p:cNvSpPr>
            <a:spLocks noGrp="1"/>
          </p:cNvSpPr>
          <p:nvPr>
            <p:ph type="title"/>
          </p:nvPr>
        </p:nvSpPr>
        <p:spPr>
          <a:xfrm>
            <a:off x="838200" y="365125"/>
            <a:ext cx="10515600" cy="904875"/>
          </a:xfrm>
        </p:spPr>
        <p:txBody>
          <a:bodyPr>
            <a:normAutofit/>
          </a:bodyPr>
          <a:lstStyle/>
          <a:p>
            <a:r>
              <a:rPr lang="en-AE" sz="2800" b="1" dirty="0"/>
              <a:t>What is the average treatment duration?</a:t>
            </a:r>
          </a:p>
        </p:txBody>
      </p:sp>
      <p:sp>
        <p:nvSpPr>
          <p:cNvPr id="3" name="Text Placeholder 2">
            <a:extLst>
              <a:ext uri="{FF2B5EF4-FFF2-40B4-BE49-F238E27FC236}">
                <a16:creationId xmlns:a16="http://schemas.microsoft.com/office/drawing/2014/main" id="{66C850E1-C41A-3599-11E0-064B66AC4C2F}"/>
              </a:ext>
            </a:extLst>
          </p:cNvPr>
          <p:cNvSpPr>
            <a:spLocks noGrp="1"/>
          </p:cNvSpPr>
          <p:nvPr>
            <p:ph type="body" idx="1"/>
          </p:nvPr>
        </p:nvSpPr>
        <p:spPr>
          <a:xfrm>
            <a:off x="838200" y="1356852"/>
            <a:ext cx="10515600" cy="4820111"/>
          </a:xfrm>
        </p:spPr>
        <p:txBody>
          <a:bodyPr>
            <a:normAutofit/>
          </a:bodyPr>
          <a:lstStyle/>
          <a:p>
            <a:pPr marL="114300" indent="0">
              <a:buNone/>
            </a:pPr>
            <a:r>
              <a:rPr lang="en-IN" sz="2400" b="1" dirty="0"/>
              <a:t>Query :</a:t>
            </a:r>
          </a:p>
          <a:p>
            <a:pPr marL="114300" indent="0">
              <a:buNone/>
            </a:pPr>
            <a:endParaRPr lang="en-IN" sz="2400" b="1" dirty="0"/>
          </a:p>
          <a:p>
            <a:pPr marL="114300" indent="0">
              <a:buNone/>
            </a:pPr>
            <a:r>
              <a:rPr lang="en-IN" sz="2400" b="1" dirty="0"/>
              <a:t>Output :</a:t>
            </a:r>
          </a:p>
          <a:p>
            <a:pPr marL="114300" indent="0">
              <a:buNone/>
            </a:pPr>
            <a:endParaRPr lang="en-IN" sz="2400" b="1" dirty="0"/>
          </a:p>
          <a:p>
            <a:pPr marL="114300" indent="0">
              <a:buNone/>
            </a:pPr>
            <a:endParaRPr lang="en-IN" sz="2400" b="1" dirty="0"/>
          </a:p>
          <a:p>
            <a:pPr algn="just"/>
            <a:r>
              <a:rPr lang="en-AE" sz="2400" dirty="0"/>
              <a:t>The query identifies the treatment duration, helping to know the average treatment time the doctors take to treat the patients.</a:t>
            </a:r>
            <a:endParaRPr lang="en-IN" sz="2400" b="1" dirty="0"/>
          </a:p>
          <a:p>
            <a:pPr marL="114300" indent="0" algn="just">
              <a:buNone/>
            </a:pPr>
            <a:r>
              <a:rPr lang="en-IN" sz="2400" b="1" dirty="0"/>
              <a:t>  </a:t>
            </a:r>
            <a:endParaRPr lang="en-AE" sz="2400" b="1" dirty="0"/>
          </a:p>
        </p:txBody>
      </p:sp>
      <p:pic>
        <p:nvPicPr>
          <p:cNvPr id="6" name="Picture 5">
            <a:extLst>
              <a:ext uri="{FF2B5EF4-FFF2-40B4-BE49-F238E27FC236}">
                <a16:creationId xmlns:a16="http://schemas.microsoft.com/office/drawing/2014/main" id="{1ADA677F-37B0-EE63-7DD4-C9E370F16A49}"/>
              </a:ext>
            </a:extLst>
          </p:cNvPr>
          <p:cNvPicPr>
            <a:picLocks noChangeAspect="1"/>
          </p:cNvPicPr>
          <p:nvPr/>
        </p:nvPicPr>
        <p:blipFill>
          <a:blip r:embed="rId2"/>
          <a:stretch>
            <a:fillRect/>
          </a:stretch>
        </p:blipFill>
        <p:spPr>
          <a:xfrm>
            <a:off x="2369573" y="1482032"/>
            <a:ext cx="3889713" cy="670413"/>
          </a:xfrm>
          <a:prstGeom prst="rect">
            <a:avLst/>
          </a:prstGeom>
        </p:spPr>
      </p:pic>
      <p:pic>
        <p:nvPicPr>
          <p:cNvPr id="9" name="Picture 8">
            <a:extLst>
              <a:ext uri="{FF2B5EF4-FFF2-40B4-BE49-F238E27FC236}">
                <a16:creationId xmlns:a16="http://schemas.microsoft.com/office/drawing/2014/main" id="{7A4A3565-62DA-1163-C5B7-29AE593BD33F}"/>
              </a:ext>
            </a:extLst>
          </p:cNvPr>
          <p:cNvPicPr>
            <a:picLocks noChangeAspect="1"/>
          </p:cNvPicPr>
          <p:nvPr/>
        </p:nvPicPr>
        <p:blipFill>
          <a:blip r:embed="rId3"/>
          <a:stretch>
            <a:fillRect/>
          </a:stretch>
        </p:blipFill>
        <p:spPr>
          <a:xfrm>
            <a:off x="2523574" y="2519108"/>
            <a:ext cx="2407655" cy="909892"/>
          </a:xfrm>
          <a:prstGeom prst="rect">
            <a:avLst/>
          </a:prstGeom>
        </p:spPr>
      </p:pic>
    </p:spTree>
    <p:extLst>
      <p:ext uri="{BB962C8B-B14F-4D97-AF65-F5344CB8AC3E}">
        <p14:creationId xmlns:p14="http://schemas.microsoft.com/office/powerpoint/2010/main" val="13394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37F0A-E943-6E0A-6822-0A77FC3AB108}"/>
              </a:ext>
            </a:extLst>
          </p:cNvPr>
          <p:cNvSpPr>
            <a:spLocks noGrp="1"/>
          </p:cNvSpPr>
          <p:nvPr>
            <p:ph type="title"/>
          </p:nvPr>
        </p:nvSpPr>
        <p:spPr>
          <a:xfrm>
            <a:off x="838200" y="365126"/>
            <a:ext cx="10515600" cy="677094"/>
          </a:xfrm>
        </p:spPr>
        <p:txBody>
          <a:bodyPr>
            <a:normAutofit/>
          </a:bodyPr>
          <a:lstStyle/>
          <a:p>
            <a:r>
              <a:rPr lang="en-US" sz="2800" b="1" dirty="0"/>
              <a:t>Compare appointment volume across cities.</a:t>
            </a:r>
            <a:endParaRPr lang="en-AE" sz="2800" b="1" dirty="0"/>
          </a:p>
        </p:txBody>
      </p:sp>
      <p:sp>
        <p:nvSpPr>
          <p:cNvPr id="3" name="Text Placeholder 2">
            <a:extLst>
              <a:ext uri="{FF2B5EF4-FFF2-40B4-BE49-F238E27FC236}">
                <a16:creationId xmlns:a16="http://schemas.microsoft.com/office/drawing/2014/main" id="{2623F8F5-CF46-CE24-343C-D6EA8EE2E8A5}"/>
              </a:ext>
            </a:extLst>
          </p:cNvPr>
          <p:cNvSpPr>
            <a:spLocks noGrp="1"/>
          </p:cNvSpPr>
          <p:nvPr>
            <p:ph type="body" idx="1"/>
          </p:nvPr>
        </p:nvSpPr>
        <p:spPr>
          <a:xfrm>
            <a:off x="838200" y="1238865"/>
            <a:ext cx="10515600" cy="4938098"/>
          </a:xfrm>
        </p:spPr>
        <p:txBody>
          <a:bodyPr>
            <a:normAutofit/>
          </a:bodyPr>
          <a:lstStyle/>
          <a:p>
            <a:pPr marL="114300" indent="0">
              <a:buNone/>
            </a:pPr>
            <a:r>
              <a:rPr lang="en-IN" sz="2400" b="1" dirty="0"/>
              <a:t>Query : </a:t>
            </a:r>
          </a:p>
          <a:p>
            <a:pPr marL="114300" indent="0">
              <a:buNone/>
            </a:pPr>
            <a:endParaRPr lang="en-IN" sz="2400" b="1" dirty="0"/>
          </a:p>
          <a:p>
            <a:pPr marL="114300" indent="0">
              <a:buNone/>
            </a:pPr>
            <a:r>
              <a:rPr lang="en-IN" sz="2400" b="1" dirty="0"/>
              <a:t>Output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calculates the total appointments from each city, helping identify the city with most and least appointments.</a:t>
            </a:r>
            <a:r>
              <a:rPr lang="en-IN" sz="2400" b="1" dirty="0"/>
              <a:t> </a:t>
            </a:r>
            <a:endParaRPr lang="en-AE" sz="2400" b="1" dirty="0"/>
          </a:p>
        </p:txBody>
      </p:sp>
      <p:pic>
        <p:nvPicPr>
          <p:cNvPr id="9" name="Picture 8">
            <a:extLst>
              <a:ext uri="{FF2B5EF4-FFF2-40B4-BE49-F238E27FC236}">
                <a16:creationId xmlns:a16="http://schemas.microsoft.com/office/drawing/2014/main" id="{5A5BEA97-9C57-BB9A-1670-C7293DEF0534}"/>
              </a:ext>
            </a:extLst>
          </p:cNvPr>
          <p:cNvPicPr>
            <a:picLocks noChangeAspect="1"/>
          </p:cNvPicPr>
          <p:nvPr/>
        </p:nvPicPr>
        <p:blipFill>
          <a:blip r:embed="rId2"/>
          <a:stretch>
            <a:fillRect/>
          </a:stretch>
        </p:blipFill>
        <p:spPr>
          <a:xfrm>
            <a:off x="2253085" y="1238865"/>
            <a:ext cx="5944115" cy="1123335"/>
          </a:xfrm>
          <a:prstGeom prst="rect">
            <a:avLst/>
          </a:prstGeom>
        </p:spPr>
      </p:pic>
      <p:pic>
        <p:nvPicPr>
          <p:cNvPr id="11" name="Picture 10">
            <a:extLst>
              <a:ext uri="{FF2B5EF4-FFF2-40B4-BE49-F238E27FC236}">
                <a16:creationId xmlns:a16="http://schemas.microsoft.com/office/drawing/2014/main" id="{E6E8F485-EDF6-AEA2-2B4D-7705C327FA10}"/>
              </a:ext>
            </a:extLst>
          </p:cNvPr>
          <p:cNvPicPr>
            <a:picLocks noChangeAspect="1"/>
          </p:cNvPicPr>
          <p:nvPr/>
        </p:nvPicPr>
        <p:blipFill>
          <a:blip r:embed="rId3"/>
          <a:stretch>
            <a:fillRect/>
          </a:stretch>
        </p:blipFill>
        <p:spPr>
          <a:xfrm>
            <a:off x="2253085" y="2362200"/>
            <a:ext cx="3173274" cy="2677886"/>
          </a:xfrm>
          <a:prstGeom prst="rect">
            <a:avLst/>
          </a:prstGeom>
        </p:spPr>
      </p:pic>
    </p:spTree>
    <p:extLst>
      <p:ext uri="{BB962C8B-B14F-4D97-AF65-F5344CB8AC3E}">
        <p14:creationId xmlns:p14="http://schemas.microsoft.com/office/powerpoint/2010/main" val="1568332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757B386-FA96-1B3A-BEB8-9C034417D84E}"/>
              </a:ext>
            </a:extLst>
          </p:cNvPr>
          <p:cNvSpPr>
            <a:spLocks noGrp="1"/>
          </p:cNvSpPr>
          <p:nvPr>
            <p:ph type="ctrTitle"/>
          </p:nvPr>
        </p:nvSpPr>
        <p:spPr>
          <a:xfrm>
            <a:off x="1186543" y="403906"/>
            <a:ext cx="9481457" cy="597580"/>
          </a:xfrm>
        </p:spPr>
        <p:txBody>
          <a:bodyPr>
            <a:normAutofit/>
          </a:bodyPr>
          <a:lstStyle/>
          <a:p>
            <a:pPr algn="l"/>
            <a:r>
              <a:rPr lang="en-US" sz="2800" b="1" dirty="0"/>
              <a:t>Compare estimated appointment value across patient types.</a:t>
            </a:r>
            <a:endParaRPr lang="en-IN" sz="2800" b="1" dirty="0"/>
          </a:p>
        </p:txBody>
      </p:sp>
      <p:sp>
        <p:nvSpPr>
          <p:cNvPr id="3" name="Text Placeholder 2">
            <a:extLst>
              <a:ext uri="{FF2B5EF4-FFF2-40B4-BE49-F238E27FC236}">
                <a16:creationId xmlns:a16="http://schemas.microsoft.com/office/drawing/2014/main" id="{369D9270-1DD2-A4FA-F77B-EF6A19338FD9}"/>
              </a:ext>
            </a:extLst>
          </p:cNvPr>
          <p:cNvSpPr>
            <a:spLocks noGrp="1"/>
          </p:cNvSpPr>
          <p:nvPr>
            <p:ph type="subTitle" idx="1"/>
          </p:nvPr>
        </p:nvSpPr>
        <p:spPr>
          <a:xfrm>
            <a:off x="1186543" y="1164773"/>
            <a:ext cx="10003971" cy="4626428"/>
          </a:xfrm>
        </p:spPr>
        <p:txBody>
          <a:bodyPr>
            <a:normAutofit/>
          </a:bodyPr>
          <a:lstStyle/>
          <a:p>
            <a:pPr marL="114300" indent="0" algn="l">
              <a:buNone/>
            </a:pPr>
            <a:r>
              <a:rPr lang="en-AE" sz="2400" b="1" dirty="0">
                <a:solidFill>
                  <a:schemeClr val="tx1"/>
                </a:solidFill>
              </a:rPr>
              <a:t>Query:</a:t>
            </a:r>
          </a:p>
          <a:p>
            <a:pPr marL="114300" indent="0" algn="l">
              <a:buNone/>
            </a:pPr>
            <a:endParaRPr lang="en-AE" sz="2400" b="1" dirty="0">
              <a:solidFill>
                <a:schemeClr val="tx1"/>
              </a:solidFill>
            </a:endParaRPr>
          </a:p>
          <a:p>
            <a:pPr marL="114300" indent="0" algn="l">
              <a:buNone/>
            </a:pPr>
            <a:endParaRPr lang="en-AE" sz="2400" b="1" dirty="0">
              <a:solidFill>
                <a:schemeClr val="tx1"/>
              </a:solidFill>
            </a:endParaRPr>
          </a:p>
          <a:p>
            <a:pPr marL="114300" indent="0" algn="l">
              <a:buNone/>
            </a:pPr>
            <a:r>
              <a:rPr lang="en-AE" b="1" dirty="0">
                <a:solidFill>
                  <a:schemeClr val="tx1"/>
                </a:solidFill>
              </a:rPr>
              <a:t>Output: </a:t>
            </a:r>
          </a:p>
          <a:p>
            <a:pPr marL="114300" indent="0" algn="l">
              <a:buNone/>
            </a:pPr>
            <a:endParaRPr lang="en-AE" sz="2400" b="1" dirty="0">
              <a:solidFill>
                <a:schemeClr val="tx1"/>
              </a:solidFill>
            </a:endParaRPr>
          </a:p>
          <a:p>
            <a:pPr marL="114300" indent="0" algn="l">
              <a:buNone/>
            </a:pPr>
            <a:endParaRPr lang="en-AE" b="1" dirty="0">
              <a:solidFill>
                <a:schemeClr val="tx1"/>
              </a:solidFill>
            </a:endParaRPr>
          </a:p>
          <a:p>
            <a:pPr indent="-342900" algn="l">
              <a:buFont typeface="Arial" panose="020B0604020202020204" pitchFamily="34" charset="0"/>
              <a:buChar char="•"/>
            </a:pPr>
            <a:r>
              <a:rPr lang="en-AE" dirty="0">
                <a:solidFill>
                  <a:schemeClr val="tx1"/>
                </a:solidFill>
              </a:rPr>
              <a:t>The query calculates the cost of appointments by the type of payment methods the patient is using to pay the bill.</a:t>
            </a:r>
            <a:endParaRPr lang="en-AE" sz="2400" dirty="0">
              <a:solidFill>
                <a:schemeClr val="tx1"/>
              </a:solidFill>
            </a:endParaRPr>
          </a:p>
        </p:txBody>
      </p:sp>
      <p:pic>
        <p:nvPicPr>
          <p:cNvPr id="11" name="Picture 10">
            <a:extLst>
              <a:ext uri="{FF2B5EF4-FFF2-40B4-BE49-F238E27FC236}">
                <a16:creationId xmlns:a16="http://schemas.microsoft.com/office/drawing/2014/main" id="{FF953088-0D9E-6D98-1BFE-108CA4FC5818}"/>
              </a:ext>
            </a:extLst>
          </p:cNvPr>
          <p:cNvPicPr>
            <a:picLocks noChangeAspect="1"/>
          </p:cNvPicPr>
          <p:nvPr/>
        </p:nvPicPr>
        <p:blipFill>
          <a:blip r:embed="rId2"/>
          <a:stretch>
            <a:fillRect/>
          </a:stretch>
        </p:blipFill>
        <p:spPr>
          <a:xfrm>
            <a:off x="2361480" y="1312251"/>
            <a:ext cx="8306520" cy="941092"/>
          </a:xfrm>
          <a:prstGeom prst="rect">
            <a:avLst/>
          </a:prstGeom>
        </p:spPr>
      </p:pic>
      <p:pic>
        <p:nvPicPr>
          <p:cNvPr id="13" name="Picture 12">
            <a:extLst>
              <a:ext uri="{FF2B5EF4-FFF2-40B4-BE49-F238E27FC236}">
                <a16:creationId xmlns:a16="http://schemas.microsoft.com/office/drawing/2014/main" id="{00F9A566-B3F6-C1E4-A97C-797125D415D2}"/>
              </a:ext>
            </a:extLst>
          </p:cNvPr>
          <p:cNvPicPr>
            <a:picLocks noChangeAspect="1"/>
          </p:cNvPicPr>
          <p:nvPr/>
        </p:nvPicPr>
        <p:blipFill>
          <a:blip r:embed="rId3"/>
          <a:stretch>
            <a:fillRect/>
          </a:stretch>
        </p:blipFill>
        <p:spPr>
          <a:xfrm>
            <a:off x="2629336" y="2253343"/>
            <a:ext cx="2867949" cy="1436914"/>
          </a:xfrm>
          <a:prstGeom prst="rect">
            <a:avLst/>
          </a:prstGeom>
        </p:spPr>
      </p:pic>
    </p:spTree>
    <p:extLst>
      <p:ext uri="{BB962C8B-B14F-4D97-AF65-F5344CB8AC3E}">
        <p14:creationId xmlns:p14="http://schemas.microsoft.com/office/powerpoint/2010/main" val="2851394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16D0-C731-8614-6B38-62214DDEEA4A}"/>
              </a:ext>
            </a:extLst>
          </p:cNvPr>
          <p:cNvSpPr>
            <a:spLocks noGrp="1"/>
          </p:cNvSpPr>
          <p:nvPr>
            <p:ph type="title"/>
          </p:nvPr>
        </p:nvSpPr>
        <p:spPr>
          <a:xfrm>
            <a:off x="838200" y="365126"/>
            <a:ext cx="10515600" cy="814746"/>
          </a:xfrm>
        </p:spPr>
        <p:txBody>
          <a:bodyPr>
            <a:normAutofit/>
          </a:bodyPr>
          <a:lstStyle/>
          <a:p>
            <a:r>
              <a:rPr lang="en-US" sz="2800" b="1" dirty="0"/>
              <a:t>Examine booking channels and their contribution to demand.</a:t>
            </a:r>
            <a:endParaRPr lang="en-AE" sz="2800" b="1" dirty="0"/>
          </a:p>
        </p:txBody>
      </p:sp>
      <p:sp>
        <p:nvSpPr>
          <p:cNvPr id="3" name="Text Placeholder 2">
            <a:extLst>
              <a:ext uri="{FF2B5EF4-FFF2-40B4-BE49-F238E27FC236}">
                <a16:creationId xmlns:a16="http://schemas.microsoft.com/office/drawing/2014/main" id="{A553538D-2782-87CC-7566-A15A00D1DE77}"/>
              </a:ext>
            </a:extLst>
          </p:cNvPr>
          <p:cNvSpPr>
            <a:spLocks noGrp="1"/>
          </p:cNvSpPr>
          <p:nvPr>
            <p:ph type="body" idx="1"/>
          </p:nvPr>
        </p:nvSpPr>
        <p:spPr>
          <a:xfrm>
            <a:off x="838200" y="1356852"/>
            <a:ext cx="10515600" cy="4768645"/>
          </a:xfrm>
        </p:spPr>
        <p:txBody>
          <a:bodyPr>
            <a:noAutofit/>
          </a:bodyPr>
          <a:lstStyle/>
          <a:p>
            <a:pPr marL="114300" indent="0">
              <a:buNone/>
            </a:pPr>
            <a:r>
              <a:rPr lang="en-IN" sz="2400" b="1" dirty="0"/>
              <a:t>Query : </a:t>
            </a:r>
          </a:p>
          <a:p>
            <a:pPr marL="114300" indent="0">
              <a:buNone/>
            </a:pPr>
            <a:endParaRPr lang="en-IN" sz="2400" b="1" dirty="0"/>
          </a:p>
          <a:p>
            <a:pPr marL="114300" indent="0">
              <a:buNone/>
            </a:pPr>
            <a:r>
              <a:rPr lang="en-IN" sz="2400" b="1" dirty="0"/>
              <a:t>Output : </a:t>
            </a:r>
          </a:p>
          <a:p>
            <a:pPr marL="114300" indent="0">
              <a:buNone/>
            </a:pPr>
            <a:endParaRPr lang="en-AE" sz="2400" b="1" dirty="0"/>
          </a:p>
          <a:p>
            <a:pPr marL="114300" indent="0">
              <a:buNone/>
            </a:pPr>
            <a:endParaRPr lang="en-AE" sz="2400" b="1" dirty="0"/>
          </a:p>
          <a:p>
            <a:pPr marL="114300" indent="0">
              <a:buNone/>
            </a:pPr>
            <a:endParaRPr lang="en-AE" sz="2400" b="1" dirty="0"/>
          </a:p>
          <a:p>
            <a:pPr marL="114300" indent="0">
              <a:buNone/>
            </a:pPr>
            <a:endParaRPr lang="en-AE" sz="2400" b="1" dirty="0"/>
          </a:p>
          <a:p>
            <a:pPr algn="just"/>
            <a:r>
              <a:rPr lang="en-AE" sz="2400" dirty="0"/>
              <a:t>The query identifies the number of appointments booking from different booking channels and estimated treatment cost, helping understand the number of appointments have book booked from different booking channels and total estimated treatment cost from each booking channel.</a:t>
            </a:r>
            <a:endParaRPr lang="en-AE" sz="2400" b="1" dirty="0"/>
          </a:p>
          <a:p>
            <a:pPr marL="114300" indent="0">
              <a:buNone/>
            </a:pPr>
            <a:endParaRPr lang="en-AE" sz="2400" b="1" dirty="0"/>
          </a:p>
        </p:txBody>
      </p:sp>
      <p:pic>
        <p:nvPicPr>
          <p:cNvPr id="6" name="Picture 5">
            <a:extLst>
              <a:ext uri="{FF2B5EF4-FFF2-40B4-BE49-F238E27FC236}">
                <a16:creationId xmlns:a16="http://schemas.microsoft.com/office/drawing/2014/main" id="{9DE80F97-5234-280E-B752-5E59C7134E21}"/>
              </a:ext>
            </a:extLst>
          </p:cNvPr>
          <p:cNvPicPr>
            <a:picLocks noChangeAspect="1"/>
          </p:cNvPicPr>
          <p:nvPr/>
        </p:nvPicPr>
        <p:blipFill>
          <a:blip r:embed="rId2"/>
          <a:stretch>
            <a:fillRect/>
          </a:stretch>
        </p:blipFill>
        <p:spPr>
          <a:xfrm>
            <a:off x="2102426" y="1477860"/>
            <a:ext cx="7475868" cy="895225"/>
          </a:xfrm>
          <a:prstGeom prst="rect">
            <a:avLst/>
          </a:prstGeom>
        </p:spPr>
      </p:pic>
      <p:pic>
        <p:nvPicPr>
          <p:cNvPr id="9" name="Picture 8">
            <a:extLst>
              <a:ext uri="{FF2B5EF4-FFF2-40B4-BE49-F238E27FC236}">
                <a16:creationId xmlns:a16="http://schemas.microsoft.com/office/drawing/2014/main" id="{C82A0A95-CCEB-DFF0-EC21-B719BB0BD6EA}"/>
              </a:ext>
            </a:extLst>
          </p:cNvPr>
          <p:cNvPicPr>
            <a:picLocks noChangeAspect="1"/>
          </p:cNvPicPr>
          <p:nvPr/>
        </p:nvPicPr>
        <p:blipFill>
          <a:blip r:embed="rId3"/>
          <a:stretch>
            <a:fillRect/>
          </a:stretch>
        </p:blipFill>
        <p:spPr>
          <a:xfrm>
            <a:off x="2203131" y="2550064"/>
            <a:ext cx="4219440" cy="1934851"/>
          </a:xfrm>
          <a:prstGeom prst="rect">
            <a:avLst/>
          </a:prstGeom>
        </p:spPr>
      </p:pic>
    </p:spTree>
    <p:extLst>
      <p:ext uri="{BB962C8B-B14F-4D97-AF65-F5344CB8AC3E}">
        <p14:creationId xmlns:p14="http://schemas.microsoft.com/office/powerpoint/2010/main" val="2624628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40B5-98E8-BBBE-7FC1-1DB2235989DE}"/>
              </a:ext>
            </a:extLst>
          </p:cNvPr>
          <p:cNvSpPr>
            <a:spLocks noGrp="1"/>
          </p:cNvSpPr>
          <p:nvPr>
            <p:ph type="title"/>
          </p:nvPr>
        </p:nvSpPr>
        <p:spPr>
          <a:xfrm>
            <a:off x="838200" y="365125"/>
            <a:ext cx="10515600" cy="627933"/>
          </a:xfrm>
        </p:spPr>
        <p:txBody>
          <a:bodyPr>
            <a:normAutofit/>
          </a:bodyPr>
          <a:lstStyle/>
          <a:p>
            <a:r>
              <a:rPr lang="en-US" sz="2800" b="1" dirty="0">
                <a:solidFill>
                  <a:srgbClr val="000000"/>
                </a:solidFill>
              </a:rPr>
              <a:t>Compare patients by number of appointments.</a:t>
            </a:r>
            <a:endParaRPr lang="en-AE" sz="2800" b="1" dirty="0">
              <a:solidFill>
                <a:srgbClr val="000000"/>
              </a:solidFill>
            </a:endParaRPr>
          </a:p>
        </p:txBody>
      </p:sp>
      <p:sp>
        <p:nvSpPr>
          <p:cNvPr id="3" name="Text Placeholder 2">
            <a:extLst>
              <a:ext uri="{FF2B5EF4-FFF2-40B4-BE49-F238E27FC236}">
                <a16:creationId xmlns:a16="http://schemas.microsoft.com/office/drawing/2014/main" id="{DC13484C-FA5F-46CC-EDCC-AFF8FEFAF2D0}"/>
              </a:ext>
            </a:extLst>
          </p:cNvPr>
          <p:cNvSpPr>
            <a:spLocks noGrp="1"/>
          </p:cNvSpPr>
          <p:nvPr>
            <p:ph type="body" idx="1"/>
          </p:nvPr>
        </p:nvSpPr>
        <p:spPr>
          <a:xfrm>
            <a:off x="838200" y="1071716"/>
            <a:ext cx="10515600" cy="5105247"/>
          </a:xfrm>
        </p:spPr>
        <p:txBody>
          <a:bodyPr>
            <a:normAutofit/>
          </a:bodyPr>
          <a:lstStyle/>
          <a:p>
            <a:pPr marL="114300" indent="0">
              <a:buNone/>
            </a:pPr>
            <a:r>
              <a:rPr lang="en-AE" sz="2400" b="1" dirty="0"/>
              <a:t>Query :</a:t>
            </a:r>
          </a:p>
          <a:p>
            <a:pPr marL="114300" indent="0">
              <a:buNone/>
            </a:pPr>
            <a:endParaRPr lang="en-AE" sz="2400" b="1" dirty="0"/>
          </a:p>
          <a:p>
            <a:pPr marL="114300" indent="0">
              <a:buNone/>
            </a:pPr>
            <a:r>
              <a:rPr lang="en-AE" sz="2400" b="1" dirty="0"/>
              <a:t>Output :</a:t>
            </a:r>
          </a:p>
          <a:p>
            <a:pPr marL="114300" indent="0">
              <a:buNone/>
            </a:pPr>
            <a:endParaRPr lang="en-AE" sz="2400" b="1" dirty="0"/>
          </a:p>
          <a:p>
            <a:pPr marL="114300" indent="0">
              <a:buNone/>
            </a:pPr>
            <a:endParaRPr lang="en-AE" sz="2400" b="1" dirty="0"/>
          </a:p>
          <a:p>
            <a:pPr marL="114300" indent="0">
              <a:buNone/>
            </a:pPr>
            <a:endParaRPr lang="en-AE" sz="2400" b="1" dirty="0"/>
          </a:p>
          <a:p>
            <a:pPr marL="114300" indent="0">
              <a:buNone/>
            </a:pPr>
            <a:endParaRPr lang="en-AE" sz="2400" b="1" dirty="0"/>
          </a:p>
          <a:p>
            <a:pPr marL="114300" indent="0">
              <a:buNone/>
            </a:pPr>
            <a:endParaRPr lang="en-AE" sz="2400" b="1" dirty="0"/>
          </a:p>
          <a:p>
            <a:pPr algn="just"/>
            <a:r>
              <a:rPr lang="en-AE" sz="2400" dirty="0"/>
              <a:t>The query compares the patients with their number of appointments booked, helping to underst</a:t>
            </a:r>
            <a:r>
              <a:rPr lang="en-IN" sz="2400" dirty="0"/>
              <a:t>an</a:t>
            </a:r>
            <a:r>
              <a:rPr lang="en-AE" sz="2400" dirty="0"/>
              <a:t>d which patient booked how many appointments.</a:t>
            </a:r>
          </a:p>
          <a:p>
            <a:pPr marL="114300" indent="0" algn="just">
              <a:buNone/>
            </a:pPr>
            <a:r>
              <a:rPr lang="en-AE" sz="2400" b="1" dirty="0"/>
              <a:t>  </a:t>
            </a:r>
          </a:p>
        </p:txBody>
      </p:sp>
      <p:pic>
        <p:nvPicPr>
          <p:cNvPr id="6" name="Picture 5">
            <a:extLst>
              <a:ext uri="{FF2B5EF4-FFF2-40B4-BE49-F238E27FC236}">
                <a16:creationId xmlns:a16="http://schemas.microsoft.com/office/drawing/2014/main" id="{F70DB7D5-C847-BD89-3FA8-B427A49CE737}"/>
              </a:ext>
            </a:extLst>
          </p:cNvPr>
          <p:cNvPicPr>
            <a:picLocks noChangeAspect="1"/>
          </p:cNvPicPr>
          <p:nvPr/>
        </p:nvPicPr>
        <p:blipFill>
          <a:blip r:embed="rId2"/>
          <a:stretch>
            <a:fillRect/>
          </a:stretch>
        </p:blipFill>
        <p:spPr>
          <a:xfrm>
            <a:off x="2156118" y="1244431"/>
            <a:ext cx="6236768" cy="780312"/>
          </a:xfrm>
          <a:prstGeom prst="rect">
            <a:avLst/>
          </a:prstGeom>
        </p:spPr>
      </p:pic>
      <p:pic>
        <p:nvPicPr>
          <p:cNvPr id="9" name="Picture 8">
            <a:extLst>
              <a:ext uri="{FF2B5EF4-FFF2-40B4-BE49-F238E27FC236}">
                <a16:creationId xmlns:a16="http://schemas.microsoft.com/office/drawing/2014/main" id="{727EF08B-1648-4040-FA8E-7F43FA3EFE45}"/>
              </a:ext>
            </a:extLst>
          </p:cNvPr>
          <p:cNvPicPr>
            <a:picLocks noChangeAspect="1"/>
          </p:cNvPicPr>
          <p:nvPr/>
        </p:nvPicPr>
        <p:blipFill>
          <a:blip r:embed="rId3"/>
          <a:stretch>
            <a:fillRect/>
          </a:stretch>
        </p:blipFill>
        <p:spPr>
          <a:xfrm>
            <a:off x="2561315" y="2119481"/>
            <a:ext cx="3055714" cy="2550490"/>
          </a:xfrm>
          <a:prstGeom prst="rect">
            <a:avLst/>
          </a:prstGeom>
        </p:spPr>
      </p:pic>
    </p:spTree>
    <p:extLst>
      <p:ext uri="{BB962C8B-B14F-4D97-AF65-F5344CB8AC3E}">
        <p14:creationId xmlns:p14="http://schemas.microsoft.com/office/powerpoint/2010/main" val="2370889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DEB21-B7A0-4902-7B71-7DD2C1D1A023}"/>
              </a:ext>
            </a:extLst>
          </p:cNvPr>
          <p:cNvSpPr>
            <a:spLocks noGrp="1"/>
          </p:cNvSpPr>
          <p:nvPr>
            <p:ph type="title"/>
          </p:nvPr>
        </p:nvSpPr>
        <p:spPr>
          <a:xfrm>
            <a:off x="838200" y="216310"/>
            <a:ext cx="10515600" cy="825909"/>
          </a:xfrm>
        </p:spPr>
        <p:txBody>
          <a:bodyPr>
            <a:normAutofit fontScale="90000"/>
          </a:bodyPr>
          <a:lstStyle/>
          <a:p>
            <a:r>
              <a:rPr lang="en-US" sz="2800" b="1" dirty="0"/>
              <a:t>Identify patients with higher cumulative estimated appointment value.</a:t>
            </a:r>
            <a:endParaRPr lang="en-AE" sz="2800" b="1" dirty="0"/>
          </a:p>
        </p:txBody>
      </p:sp>
      <p:sp>
        <p:nvSpPr>
          <p:cNvPr id="3" name="Text Placeholder 2">
            <a:extLst>
              <a:ext uri="{FF2B5EF4-FFF2-40B4-BE49-F238E27FC236}">
                <a16:creationId xmlns:a16="http://schemas.microsoft.com/office/drawing/2014/main" id="{648E3C44-7FC5-8FD7-8A96-7494C857B7C4}"/>
              </a:ext>
            </a:extLst>
          </p:cNvPr>
          <p:cNvSpPr>
            <a:spLocks noGrp="1"/>
          </p:cNvSpPr>
          <p:nvPr>
            <p:ph type="body" idx="1"/>
          </p:nvPr>
        </p:nvSpPr>
        <p:spPr>
          <a:xfrm>
            <a:off x="838200" y="1199536"/>
            <a:ext cx="10515600" cy="4977428"/>
          </a:xfrm>
        </p:spPr>
        <p:txBody>
          <a:bodyPr>
            <a:normAutofit/>
          </a:bodyPr>
          <a:lstStyle/>
          <a:p>
            <a:pPr marL="114300" indent="0">
              <a:buNone/>
            </a:pPr>
            <a:r>
              <a:rPr lang="en-IN" sz="2400" b="1" dirty="0"/>
              <a:t>Query : </a:t>
            </a:r>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identifies the patients with most estimated appointment cost, helping to compare patients with most and least estimated appointment costs.</a:t>
            </a:r>
            <a:endParaRPr lang="en-AE" sz="2400" b="1" dirty="0"/>
          </a:p>
        </p:txBody>
      </p:sp>
      <p:pic>
        <p:nvPicPr>
          <p:cNvPr id="6" name="Picture 5">
            <a:extLst>
              <a:ext uri="{FF2B5EF4-FFF2-40B4-BE49-F238E27FC236}">
                <a16:creationId xmlns:a16="http://schemas.microsoft.com/office/drawing/2014/main" id="{8F8C774C-DA19-CA35-C98F-52CA09F9E788}"/>
              </a:ext>
            </a:extLst>
          </p:cNvPr>
          <p:cNvPicPr>
            <a:picLocks noChangeAspect="1"/>
          </p:cNvPicPr>
          <p:nvPr/>
        </p:nvPicPr>
        <p:blipFill>
          <a:blip r:embed="rId2"/>
          <a:stretch>
            <a:fillRect/>
          </a:stretch>
        </p:blipFill>
        <p:spPr>
          <a:xfrm>
            <a:off x="2550874" y="1199536"/>
            <a:ext cx="6364525" cy="1010264"/>
          </a:xfrm>
          <a:prstGeom prst="rect">
            <a:avLst/>
          </a:prstGeom>
        </p:spPr>
      </p:pic>
      <p:pic>
        <p:nvPicPr>
          <p:cNvPr id="9" name="Picture 8">
            <a:extLst>
              <a:ext uri="{FF2B5EF4-FFF2-40B4-BE49-F238E27FC236}">
                <a16:creationId xmlns:a16="http://schemas.microsoft.com/office/drawing/2014/main" id="{1B471F29-EDEC-4598-CCA3-56F0C3DED414}"/>
              </a:ext>
            </a:extLst>
          </p:cNvPr>
          <p:cNvPicPr>
            <a:picLocks noChangeAspect="1"/>
          </p:cNvPicPr>
          <p:nvPr/>
        </p:nvPicPr>
        <p:blipFill>
          <a:blip r:embed="rId3"/>
          <a:stretch>
            <a:fillRect/>
          </a:stretch>
        </p:blipFill>
        <p:spPr>
          <a:xfrm>
            <a:off x="2758530" y="2367117"/>
            <a:ext cx="3533413" cy="2235612"/>
          </a:xfrm>
          <a:prstGeom prst="rect">
            <a:avLst/>
          </a:prstGeom>
        </p:spPr>
      </p:pic>
    </p:spTree>
    <p:extLst>
      <p:ext uri="{BB962C8B-B14F-4D97-AF65-F5344CB8AC3E}">
        <p14:creationId xmlns:p14="http://schemas.microsoft.com/office/powerpoint/2010/main" val="3268852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8A26-7C90-5A9F-8629-02C95669520B}"/>
              </a:ext>
            </a:extLst>
          </p:cNvPr>
          <p:cNvSpPr>
            <a:spLocks noGrp="1"/>
          </p:cNvSpPr>
          <p:nvPr>
            <p:ph type="title"/>
          </p:nvPr>
        </p:nvSpPr>
        <p:spPr>
          <a:xfrm>
            <a:off x="838200" y="365126"/>
            <a:ext cx="10515600" cy="647598"/>
          </a:xfrm>
        </p:spPr>
        <p:txBody>
          <a:bodyPr>
            <a:normAutofit/>
          </a:bodyPr>
          <a:lstStyle/>
          <a:p>
            <a:r>
              <a:rPr lang="en-US" sz="2800" b="1" dirty="0"/>
              <a:t>Compare patient activity across cities.</a:t>
            </a:r>
            <a:endParaRPr lang="en-AE" sz="2800" b="1" dirty="0"/>
          </a:p>
        </p:txBody>
      </p:sp>
      <p:sp>
        <p:nvSpPr>
          <p:cNvPr id="3" name="Text Placeholder 2">
            <a:extLst>
              <a:ext uri="{FF2B5EF4-FFF2-40B4-BE49-F238E27FC236}">
                <a16:creationId xmlns:a16="http://schemas.microsoft.com/office/drawing/2014/main" id="{91753DD8-9A91-C6D4-A635-57634E1AE4AE}"/>
              </a:ext>
            </a:extLst>
          </p:cNvPr>
          <p:cNvSpPr>
            <a:spLocks noGrp="1"/>
          </p:cNvSpPr>
          <p:nvPr>
            <p:ph type="body" idx="1"/>
          </p:nvPr>
        </p:nvSpPr>
        <p:spPr>
          <a:xfrm>
            <a:off x="838200" y="1238865"/>
            <a:ext cx="10515600" cy="4938098"/>
          </a:xfrm>
        </p:spPr>
        <p:txBody>
          <a:bodyPr>
            <a:normAutofit/>
          </a:bodyPr>
          <a:lstStyle/>
          <a:p>
            <a:pPr marL="114300" indent="0">
              <a:buNone/>
            </a:pPr>
            <a:r>
              <a:rPr lang="en-IN" sz="2400" b="1" dirty="0"/>
              <a:t>Query :</a:t>
            </a:r>
          </a:p>
          <a:p>
            <a:pPr marL="114300" indent="0">
              <a:buNone/>
            </a:pPr>
            <a:endParaRPr lang="en-IN" sz="2400" b="1" dirty="0"/>
          </a:p>
          <a:p>
            <a:pPr marL="114300" indent="0">
              <a:buNone/>
            </a:pPr>
            <a:r>
              <a:rPr lang="en-IN" sz="2400" b="1" dirty="0"/>
              <a:t>Output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lgn="just">
              <a:buNone/>
            </a:pPr>
            <a:endParaRPr lang="en-IN" sz="2400" b="1" dirty="0"/>
          </a:p>
          <a:p>
            <a:pPr algn="just"/>
            <a:r>
              <a:rPr lang="en-AE" sz="2400" dirty="0"/>
              <a:t>The query compares the cities with highest appointments, helping to understand the cities with most and least appointment counts.</a:t>
            </a:r>
            <a:endParaRPr lang="en-AE" sz="2400" b="1" dirty="0"/>
          </a:p>
        </p:txBody>
      </p:sp>
      <p:pic>
        <p:nvPicPr>
          <p:cNvPr id="6" name="Picture 5">
            <a:extLst>
              <a:ext uri="{FF2B5EF4-FFF2-40B4-BE49-F238E27FC236}">
                <a16:creationId xmlns:a16="http://schemas.microsoft.com/office/drawing/2014/main" id="{1A7FF436-A888-E408-D4F1-48AC16B4191A}"/>
              </a:ext>
            </a:extLst>
          </p:cNvPr>
          <p:cNvPicPr>
            <a:picLocks noChangeAspect="1"/>
          </p:cNvPicPr>
          <p:nvPr/>
        </p:nvPicPr>
        <p:blipFill>
          <a:blip r:embed="rId2"/>
          <a:stretch>
            <a:fillRect/>
          </a:stretch>
        </p:blipFill>
        <p:spPr>
          <a:xfrm>
            <a:off x="2392359" y="1238865"/>
            <a:ext cx="7407282" cy="840306"/>
          </a:xfrm>
          <a:prstGeom prst="rect">
            <a:avLst/>
          </a:prstGeom>
        </p:spPr>
      </p:pic>
      <p:pic>
        <p:nvPicPr>
          <p:cNvPr id="9" name="Picture 8">
            <a:extLst>
              <a:ext uri="{FF2B5EF4-FFF2-40B4-BE49-F238E27FC236}">
                <a16:creationId xmlns:a16="http://schemas.microsoft.com/office/drawing/2014/main" id="{CD41DC5D-A1B9-0CDE-14EA-1302E027EA83}"/>
              </a:ext>
            </a:extLst>
          </p:cNvPr>
          <p:cNvPicPr>
            <a:picLocks noChangeAspect="1"/>
          </p:cNvPicPr>
          <p:nvPr/>
        </p:nvPicPr>
        <p:blipFill>
          <a:blip r:embed="rId3"/>
          <a:stretch>
            <a:fillRect/>
          </a:stretch>
        </p:blipFill>
        <p:spPr>
          <a:xfrm>
            <a:off x="2392359" y="2305312"/>
            <a:ext cx="2691270" cy="2244917"/>
          </a:xfrm>
          <a:prstGeom prst="rect">
            <a:avLst/>
          </a:prstGeom>
        </p:spPr>
      </p:pic>
    </p:spTree>
    <p:extLst>
      <p:ext uri="{BB962C8B-B14F-4D97-AF65-F5344CB8AC3E}">
        <p14:creationId xmlns:p14="http://schemas.microsoft.com/office/powerpoint/2010/main" val="1207371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C5E3-F52A-355F-682A-A9B05DFA7622}"/>
              </a:ext>
            </a:extLst>
          </p:cNvPr>
          <p:cNvSpPr>
            <a:spLocks noGrp="1"/>
          </p:cNvSpPr>
          <p:nvPr>
            <p:ph type="title"/>
          </p:nvPr>
        </p:nvSpPr>
        <p:spPr>
          <a:xfrm>
            <a:off x="838200" y="365126"/>
            <a:ext cx="10515600" cy="657430"/>
          </a:xfrm>
        </p:spPr>
        <p:txBody>
          <a:bodyPr>
            <a:normAutofit/>
          </a:bodyPr>
          <a:lstStyle/>
          <a:p>
            <a:r>
              <a:rPr lang="en-IN" sz="2800" b="1" dirty="0"/>
              <a:t>Compare General, Corporate, and Insurance patients.</a:t>
            </a:r>
            <a:endParaRPr lang="en-AE" sz="2800" b="1" dirty="0"/>
          </a:p>
        </p:txBody>
      </p:sp>
      <p:sp>
        <p:nvSpPr>
          <p:cNvPr id="3" name="Text Placeholder 2">
            <a:extLst>
              <a:ext uri="{FF2B5EF4-FFF2-40B4-BE49-F238E27FC236}">
                <a16:creationId xmlns:a16="http://schemas.microsoft.com/office/drawing/2014/main" id="{62E0C1BC-A100-D733-1393-4BAE4DCD2043}"/>
              </a:ext>
            </a:extLst>
          </p:cNvPr>
          <p:cNvSpPr>
            <a:spLocks noGrp="1"/>
          </p:cNvSpPr>
          <p:nvPr>
            <p:ph type="body" idx="1"/>
          </p:nvPr>
        </p:nvSpPr>
        <p:spPr>
          <a:xfrm>
            <a:off x="838200" y="1101213"/>
            <a:ext cx="10515600" cy="5075750"/>
          </a:xfrm>
        </p:spPr>
        <p:txBody>
          <a:bodyPr>
            <a:normAutofit/>
          </a:bodyPr>
          <a:lstStyle/>
          <a:p>
            <a:pPr marL="114300" indent="0">
              <a:buNone/>
            </a:pPr>
            <a:r>
              <a:rPr lang="en-IN" sz="2400" b="1" dirty="0"/>
              <a:t>Query :</a:t>
            </a:r>
          </a:p>
          <a:p>
            <a:pPr marL="114300" indent="0">
              <a:buNone/>
            </a:pPr>
            <a:endParaRPr lang="en-IN" sz="2400" b="1" dirty="0"/>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identifies patients taking appointments by different methods like insurance, general and corporate, helping to estimate the treatment cost from each type of appointment.</a:t>
            </a:r>
            <a:endParaRPr lang="en-AE" sz="2400" b="1" dirty="0"/>
          </a:p>
        </p:txBody>
      </p:sp>
      <p:pic>
        <p:nvPicPr>
          <p:cNvPr id="11" name="Picture 10">
            <a:extLst>
              <a:ext uri="{FF2B5EF4-FFF2-40B4-BE49-F238E27FC236}">
                <a16:creationId xmlns:a16="http://schemas.microsoft.com/office/drawing/2014/main" id="{1C82C143-A3AA-7E3C-8EE7-D472A70CEAA9}"/>
              </a:ext>
            </a:extLst>
          </p:cNvPr>
          <p:cNvPicPr>
            <a:picLocks noChangeAspect="1"/>
          </p:cNvPicPr>
          <p:nvPr/>
        </p:nvPicPr>
        <p:blipFill>
          <a:blip r:embed="rId2"/>
          <a:stretch>
            <a:fillRect/>
          </a:stretch>
        </p:blipFill>
        <p:spPr>
          <a:xfrm>
            <a:off x="2312033" y="1232269"/>
            <a:ext cx="6548937" cy="1298852"/>
          </a:xfrm>
          <a:prstGeom prst="rect">
            <a:avLst/>
          </a:prstGeom>
        </p:spPr>
      </p:pic>
      <p:pic>
        <p:nvPicPr>
          <p:cNvPr id="13" name="Picture 12">
            <a:extLst>
              <a:ext uri="{FF2B5EF4-FFF2-40B4-BE49-F238E27FC236}">
                <a16:creationId xmlns:a16="http://schemas.microsoft.com/office/drawing/2014/main" id="{CF0514C4-B2E5-083B-7A4B-DEE0C8FE7109}"/>
              </a:ext>
            </a:extLst>
          </p:cNvPr>
          <p:cNvPicPr>
            <a:picLocks noChangeAspect="1"/>
          </p:cNvPicPr>
          <p:nvPr/>
        </p:nvPicPr>
        <p:blipFill>
          <a:blip r:embed="rId3"/>
          <a:stretch>
            <a:fillRect/>
          </a:stretch>
        </p:blipFill>
        <p:spPr>
          <a:xfrm>
            <a:off x="2406162" y="2673063"/>
            <a:ext cx="3461238" cy="1409079"/>
          </a:xfrm>
          <a:prstGeom prst="rect">
            <a:avLst/>
          </a:prstGeom>
        </p:spPr>
      </p:pic>
    </p:spTree>
    <p:extLst>
      <p:ext uri="{BB962C8B-B14F-4D97-AF65-F5344CB8AC3E}">
        <p14:creationId xmlns:p14="http://schemas.microsoft.com/office/powerpoint/2010/main" val="2629913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AD644-9B2D-A2EC-BF4E-8E22F930EE93}"/>
              </a:ext>
            </a:extLst>
          </p:cNvPr>
          <p:cNvSpPr>
            <a:spLocks noGrp="1"/>
          </p:cNvSpPr>
          <p:nvPr>
            <p:ph type="title"/>
          </p:nvPr>
        </p:nvSpPr>
        <p:spPr>
          <a:xfrm>
            <a:off x="838200" y="365127"/>
            <a:ext cx="10515600" cy="618100"/>
          </a:xfrm>
        </p:spPr>
        <p:txBody>
          <a:bodyPr>
            <a:normAutofit/>
          </a:bodyPr>
          <a:lstStyle/>
          <a:p>
            <a:r>
              <a:rPr lang="en-US" sz="2800" b="1" dirty="0">
                <a:solidFill>
                  <a:srgbClr val="000000"/>
                </a:solidFill>
              </a:rPr>
              <a:t>Examine treatment duration and waiting time.</a:t>
            </a:r>
            <a:endParaRPr lang="en-AE" sz="2800" b="1" dirty="0">
              <a:solidFill>
                <a:srgbClr val="000000"/>
              </a:solidFill>
            </a:endParaRPr>
          </a:p>
        </p:txBody>
      </p:sp>
      <p:sp>
        <p:nvSpPr>
          <p:cNvPr id="3" name="Text Placeholder 2">
            <a:extLst>
              <a:ext uri="{FF2B5EF4-FFF2-40B4-BE49-F238E27FC236}">
                <a16:creationId xmlns:a16="http://schemas.microsoft.com/office/drawing/2014/main" id="{AE599262-47D9-59AD-C538-C9314A393121}"/>
              </a:ext>
            </a:extLst>
          </p:cNvPr>
          <p:cNvSpPr>
            <a:spLocks noGrp="1"/>
          </p:cNvSpPr>
          <p:nvPr>
            <p:ph type="body" idx="1"/>
          </p:nvPr>
        </p:nvSpPr>
        <p:spPr>
          <a:xfrm>
            <a:off x="838200" y="1199535"/>
            <a:ext cx="10515600" cy="4977428"/>
          </a:xfrm>
        </p:spPr>
        <p:txBody>
          <a:bodyPr/>
          <a:lstStyle/>
          <a:p>
            <a:pPr marL="114300" indent="0">
              <a:buNone/>
            </a:pPr>
            <a:r>
              <a:rPr lang="en-AE" sz="2400" b="1" dirty="0"/>
              <a:t>Query : </a:t>
            </a:r>
          </a:p>
          <a:p>
            <a:pPr marL="114300" indent="0">
              <a:buNone/>
            </a:pPr>
            <a:endParaRPr lang="en-AE" sz="2400" b="1" dirty="0"/>
          </a:p>
          <a:p>
            <a:pPr marL="114300" indent="0">
              <a:buNone/>
            </a:pPr>
            <a:endParaRPr lang="en-AE" sz="2400" b="1" dirty="0"/>
          </a:p>
          <a:p>
            <a:pPr marL="114300" indent="0">
              <a:buNone/>
            </a:pPr>
            <a:r>
              <a:rPr lang="en-AE" sz="2400" b="1" dirty="0"/>
              <a:t>Output : </a:t>
            </a:r>
          </a:p>
          <a:p>
            <a:pPr marL="114300" indent="0">
              <a:buNone/>
            </a:pPr>
            <a:endParaRPr lang="en-AE" sz="2400" b="1" dirty="0"/>
          </a:p>
          <a:p>
            <a:pPr marL="114300" indent="0">
              <a:buNone/>
            </a:pPr>
            <a:endParaRPr lang="en-AE" sz="2400" b="1" dirty="0"/>
          </a:p>
          <a:p>
            <a:pPr algn="just"/>
            <a:r>
              <a:rPr lang="en-AE" sz="2400" dirty="0"/>
              <a:t>The query identifies the average treatment duration and waiting time, helping to understand the time taken for treatment and waiting time.</a:t>
            </a:r>
            <a:endParaRPr lang="en-AE" sz="2400" b="1" dirty="0"/>
          </a:p>
        </p:txBody>
      </p:sp>
      <p:pic>
        <p:nvPicPr>
          <p:cNvPr id="6" name="Picture 5">
            <a:extLst>
              <a:ext uri="{FF2B5EF4-FFF2-40B4-BE49-F238E27FC236}">
                <a16:creationId xmlns:a16="http://schemas.microsoft.com/office/drawing/2014/main" id="{92784DDA-4D1F-E81E-6896-9E80AB5209B2}"/>
              </a:ext>
            </a:extLst>
          </p:cNvPr>
          <p:cNvPicPr>
            <a:picLocks noChangeAspect="1"/>
          </p:cNvPicPr>
          <p:nvPr/>
        </p:nvPicPr>
        <p:blipFill>
          <a:blip r:embed="rId2"/>
          <a:stretch>
            <a:fillRect/>
          </a:stretch>
        </p:blipFill>
        <p:spPr>
          <a:xfrm>
            <a:off x="2290695" y="1271722"/>
            <a:ext cx="5296648" cy="1045171"/>
          </a:xfrm>
          <a:prstGeom prst="rect">
            <a:avLst/>
          </a:prstGeom>
        </p:spPr>
      </p:pic>
      <p:pic>
        <p:nvPicPr>
          <p:cNvPr id="9" name="Picture 8">
            <a:extLst>
              <a:ext uri="{FF2B5EF4-FFF2-40B4-BE49-F238E27FC236}">
                <a16:creationId xmlns:a16="http://schemas.microsoft.com/office/drawing/2014/main" id="{02553488-A8FA-04CE-4E7F-19B6F3747777}"/>
              </a:ext>
            </a:extLst>
          </p:cNvPr>
          <p:cNvPicPr>
            <a:picLocks noChangeAspect="1"/>
          </p:cNvPicPr>
          <p:nvPr/>
        </p:nvPicPr>
        <p:blipFill>
          <a:blip r:embed="rId3"/>
          <a:stretch>
            <a:fillRect/>
          </a:stretch>
        </p:blipFill>
        <p:spPr>
          <a:xfrm>
            <a:off x="2509619" y="2649258"/>
            <a:ext cx="2976781" cy="1045172"/>
          </a:xfrm>
          <a:prstGeom prst="rect">
            <a:avLst/>
          </a:prstGeom>
        </p:spPr>
      </p:pic>
    </p:spTree>
    <p:extLst>
      <p:ext uri="{BB962C8B-B14F-4D97-AF65-F5344CB8AC3E}">
        <p14:creationId xmlns:p14="http://schemas.microsoft.com/office/powerpoint/2010/main" val="4072306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AB885-2688-8709-10DE-D537911D33FD}"/>
              </a:ext>
            </a:extLst>
          </p:cNvPr>
          <p:cNvSpPr>
            <a:spLocks noGrp="1"/>
          </p:cNvSpPr>
          <p:nvPr>
            <p:ph type="title"/>
          </p:nvPr>
        </p:nvSpPr>
        <p:spPr>
          <a:xfrm>
            <a:off x="838200" y="186813"/>
            <a:ext cx="10515600" cy="894735"/>
          </a:xfrm>
        </p:spPr>
        <p:txBody>
          <a:bodyPr>
            <a:noAutofit/>
          </a:bodyPr>
          <a:lstStyle/>
          <a:p>
            <a:r>
              <a:rPr lang="en-US" sz="2800" b="1" dirty="0"/>
              <a:t>Compare Completed, Cancelled, No-Show, Rescheduled, and In Progress outcomes.</a:t>
            </a:r>
            <a:endParaRPr lang="en-AE" sz="2800" b="1" dirty="0"/>
          </a:p>
        </p:txBody>
      </p:sp>
      <p:sp>
        <p:nvSpPr>
          <p:cNvPr id="3" name="Text Placeholder 2">
            <a:extLst>
              <a:ext uri="{FF2B5EF4-FFF2-40B4-BE49-F238E27FC236}">
                <a16:creationId xmlns:a16="http://schemas.microsoft.com/office/drawing/2014/main" id="{44E17B7A-C3C6-3142-37C1-8DD904D35D4A}"/>
              </a:ext>
            </a:extLst>
          </p:cNvPr>
          <p:cNvSpPr>
            <a:spLocks noGrp="1"/>
          </p:cNvSpPr>
          <p:nvPr>
            <p:ph type="body" idx="1"/>
          </p:nvPr>
        </p:nvSpPr>
        <p:spPr>
          <a:xfrm>
            <a:off x="838200" y="1229032"/>
            <a:ext cx="10515600" cy="4947931"/>
          </a:xfrm>
        </p:spPr>
        <p:txBody>
          <a:bodyPr>
            <a:normAutofit/>
          </a:bodyPr>
          <a:lstStyle/>
          <a:p>
            <a:pPr marL="114300" indent="0">
              <a:buNone/>
            </a:pPr>
            <a:r>
              <a:rPr lang="en-IN" sz="2400" b="1" dirty="0"/>
              <a:t>Query :</a:t>
            </a:r>
          </a:p>
          <a:p>
            <a:pPr marL="114300" indent="0">
              <a:buNone/>
            </a:pPr>
            <a:endParaRPr lang="en-IN" sz="2400" b="1" dirty="0"/>
          </a:p>
          <a:p>
            <a:pPr marL="114300" indent="0">
              <a:buNone/>
            </a:pPr>
            <a:r>
              <a:rPr lang="en-IN" sz="2400" b="1" dirty="0"/>
              <a:t>Output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counts the treatments which are no-show means not shown to take treatment, treatment completed, rescheduled, in progress, and cancelled treatments, helping compare the treatment status and its counts.</a:t>
            </a:r>
            <a:endParaRPr lang="en-AE" sz="2400" b="1" dirty="0"/>
          </a:p>
        </p:txBody>
      </p:sp>
      <p:pic>
        <p:nvPicPr>
          <p:cNvPr id="6" name="Picture 5">
            <a:extLst>
              <a:ext uri="{FF2B5EF4-FFF2-40B4-BE49-F238E27FC236}">
                <a16:creationId xmlns:a16="http://schemas.microsoft.com/office/drawing/2014/main" id="{3EB07CDD-2179-B928-67ED-0A1B9C95BB2D}"/>
              </a:ext>
            </a:extLst>
          </p:cNvPr>
          <p:cNvPicPr>
            <a:picLocks noChangeAspect="1"/>
          </p:cNvPicPr>
          <p:nvPr/>
        </p:nvPicPr>
        <p:blipFill>
          <a:blip r:embed="rId2"/>
          <a:stretch>
            <a:fillRect/>
          </a:stretch>
        </p:blipFill>
        <p:spPr>
          <a:xfrm>
            <a:off x="2180164" y="1462565"/>
            <a:ext cx="5654530" cy="475091"/>
          </a:xfrm>
          <a:prstGeom prst="rect">
            <a:avLst/>
          </a:prstGeom>
        </p:spPr>
      </p:pic>
      <p:pic>
        <p:nvPicPr>
          <p:cNvPr id="11" name="Picture 10">
            <a:extLst>
              <a:ext uri="{FF2B5EF4-FFF2-40B4-BE49-F238E27FC236}">
                <a16:creationId xmlns:a16="http://schemas.microsoft.com/office/drawing/2014/main" id="{483526EC-9DBB-21C9-567D-C72F4C78AB12}"/>
              </a:ext>
            </a:extLst>
          </p:cNvPr>
          <p:cNvPicPr>
            <a:picLocks noChangeAspect="1"/>
          </p:cNvPicPr>
          <p:nvPr/>
        </p:nvPicPr>
        <p:blipFill>
          <a:blip r:embed="rId3"/>
          <a:stretch>
            <a:fillRect/>
          </a:stretch>
        </p:blipFill>
        <p:spPr>
          <a:xfrm>
            <a:off x="2340908" y="2236502"/>
            <a:ext cx="2372606" cy="2019812"/>
          </a:xfrm>
          <a:prstGeom prst="rect">
            <a:avLst/>
          </a:prstGeom>
        </p:spPr>
      </p:pic>
    </p:spTree>
    <p:extLst>
      <p:ext uri="{BB962C8B-B14F-4D97-AF65-F5344CB8AC3E}">
        <p14:creationId xmlns:p14="http://schemas.microsoft.com/office/powerpoint/2010/main" val="211324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FC12-8F6C-E2D1-E0E0-0428FC8CBCDF}"/>
              </a:ext>
            </a:extLst>
          </p:cNvPr>
          <p:cNvSpPr>
            <a:spLocks noGrp="1"/>
          </p:cNvSpPr>
          <p:nvPr>
            <p:ph type="title"/>
          </p:nvPr>
        </p:nvSpPr>
        <p:spPr>
          <a:xfrm>
            <a:off x="838200" y="334297"/>
            <a:ext cx="10515600" cy="766916"/>
          </a:xfrm>
        </p:spPr>
        <p:txBody>
          <a:bodyPr>
            <a:normAutofit/>
          </a:bodyPr>
          <a:lstStyle/>
          <a:p>
            <a:r>
              <a:rPr lang="en-US" sz="2800" b="1" dirty="0"/>
              <a:t>Identify areas with higher treatment activity or proper outcomes.</a:t>
            </a:r>
            <a:endParaRPr lang="en-AE" sz="2800" b="1" dirty="0"/>
          </a:p>
        </p:txBody>
      </p:sp>
      <p:sp>
        <p:nvSpPr>
          <p:cNvPr id="3" name="Text Placeholder 2">
            <a:extLst>
              <a:ext uri="{FF2B5EF4-FFF2-40B4-BE49-F238E27FC236}">
                <a16:creationId xmlns:a16="http://schemas.microsoft.com/office/drawing/2014/main" id="{2889F6B6-635A-9E64-FBC5-A75AD8EA8D1F}"/>
              </a:ext>
            </a:extLst>
          </p:cNvPr>
          <p:cNvSpPr>
            <a:spLocks noGrp="1"/>
          </p:cNvSpPr>
          <p:nvPr>
            <p:ph type="body" idx="1"/>
          </p:nvPr>
        </p:nvSpPr>
        <p:spPr>
          <a:xfrm>
            <a:off x="838200" y="1317521"/>
            <a:ext cx="10515600" cy="4859442"/>
          </a:xfrm>
        </p:spPr>
        <p:txBody>
          <a:bodyPr>
            <a:normAutofit/>
          </a:bodyPr>
          <a:lstStyle/>
          <a:p>
            <a:pPr marL="114300" indent="0">
              <a:buNone/>
            </a:pPr>
            <a:r>
              <a:rPr lang="en-IN" sz="2400" b="1" dirty="0"/>
              <a:t>Query : </a:t>
            </a:r>
          </a:p>
          <a:p>
            <a:pPr marL="114300" indent="0">
              <a:buNone/>
            </a:pPr>
            <a:endParaRPr lang="en-IN" sz="2400" b="1" dirty="0"/>
          </a:p>
          <a:p>
            <a:pPr marL="114300" indent="0">
              <a:buNone/>
            </a:pPr>
            <a:endParaRPr lang="en-IN" sz="2400" b="1" dirty="0"/>
          </a:p>
          <a:p>
            <a:pPr marL="114300" indent="0">
              <a:buNone/>
            </a:pPr>
            <a:r>
              <a:rPr lang="en-IN" sz="2400" b="1" dirty="0"/>
              <a:t>Output :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identifies the cities with higher tr</a:t>
            </a:r>
            <a:r>
              <a:rPr lang="en-IN" sz="2400" dirty="0"/>
              <a:t>e</a:t>
            </a:r>
            <a:r>
              <a:rPr lang="en-AE" sz="2400" dirty="0"/>
              <a:t>atment appointments, helping to find out the city with highest appointments.</a:t>
            </a:r>
          </a:p>
        </p:txBody>
      </p:sp>
      <p:pic>
        <p:nvPicPr>
          <p:cNvPr id="6" name="Picture 5">
            <a:extLst>
              <a:ext uri="{FF2B5EF4-FFF2-40B4-BE49-F238E27FC236}">
                <a16:creationId xmlns:a16="http://schemas.microsoft.com/office/drawing/2014/main" id="{52C4BE31-3FB9-370B-405C-1A3FF905FDB3}"/>
              </a:ext>
            </a:extLst>
          </p:cNvPr>
          <p:cNvPicPr>
            <a:picLocks noChangeAspect="1"/>
          </p:cNvPicPr>
          <p:nvPr/>
        </p:nvPicPr>
        <p:blipFill>
          <a:blip r:embed="rId2"/>
          <a:stretch>
            <a:fillRect/>
          </a:stretch>
        </p:blipFill>
        <p:spPr>
          <a:xfrm>
            <a:off x="2212781" y="1317521"/>
            <a:ext cx="6569009" cy="1218850"/>
          </a:xfrm>
          <a:prstGeom prst="rect">
            <a:avLst/>
          </a:prstGeom>
        </p:spPr>
      </p:pic>
      <p:pic>
        <p:nvPicPr>
          <p:cNvPr id="9" name="Picture 8">
            <a:extLst>
              <a:ext uri="{FF2B5EF4-FFF2-40B4-BE49-F238E27FC236}">
                <a16:creationId xmlns:a16="http://schemas.microsoft.com/office/drawing/2014/main" id="{721CFEF7-9B49-941A-7276-814A17135564}"/>
              </a:ext>
            </a:extLst>
          </p:cNvPr>
          <p:cNvPicPr>
            <a:picLocks noChangeAspect="1"/>
          </p:cNvPicPr>
          <p:nvPr/>
        </p:nvPicPr>
        <p:blipFill>
          <a:blip r:embed="rId3"/>
          <a:stretch>
            <a:fillRect/>
          </a:stretch>
        </p:blipFill>
        <p:spPr>
          <a:xfrm>
            <a:off x="2212781" y="2721291"/>
            <a:ext cx="2859962" cy="2242595"/>
          </a:xfrm>
          <a:prstGeom prst="rect">
            <a:avLst/>
          </a:prstGeom>
        </p:spPr>
      </p:pic>
    </p:spTree>
    <p:extLst>
      <p:ext uri="{BB962C8B-B14F-4D97-AF65-F5344CB8AC3E}">
        <p14:creationId xmlns:p14="http://schemas.microsoft.com/office/powerpoint/2010/main" val="1704443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5C9E7-8051-D0B8-96EE-242DD990BFF4}"/>
              </a:ext>
            </a:extLst>
          </p:cNvPr>
          <p:cNvSpPr>
            <a:spLocks noGrp="1"/>
          </p:cNvSpPr>
          <p:nvPr>
            <p:ph type="title"/>
          </p:nvPr>
        </p:nvSpPr>
        <p:spPr>
          <a:xfrm>
            <a:off x="838200" y="365126"/>
            <a:ext cx="10515600" cy="814746"/>
          </a:xfrm>
        </p:spPr>
        <p:txBody>
          <a:bodyPr>
            <a:normAutofit/>
          </a:bodyPr>
          <a:lstStyle/>
          <a:p>
            <a:r>
              <a:rPr lang="en-US" sz="2800" b="1" dirty="0"/>
              <a:t>Find common problem statuses and patterns.</a:t>
            </a:r>
            <a:endParaRPr lang="en-AE" sz="2800" b="1" dirty="0"/>
          </a:p>
        </p:txBody>
      </p:sp>
      <p:sp>
        <p:nvSpPr>
          <p:cNvPr id="3" name="Text Placeholder 2">
            <a:extLst>
              <a:ext uri="{FF2B5EF4-FFF2-40B4-BE49-F238E27FC236}">
                <a16:creationId xmlns:a16="http://schemas.microsoft.com/office/drawing/2014/main" id="{59BF026B-0FCD-38DD-1120-F75D0B6CCB1F}"/>
              </a:ext>
            </a:extLst>
          </p:cNvPr>
          <p:cNvSpPr>
            <a:spLocks noGrp="1"/>
          </p:cNvSpPr>
          <p:nvPr>
            <p:ph type="body" idx="1"/>
          </p:nvPr>
        </p:nvSpPr>
        <p:spPr>
          <a:xfrm>
            <a:off x="838200" y="1347019"/>
            <a:ext cx="10515600" cy="4829944"/>
          </a:xfrm>
        </p:spPr>
        <p:txBody>
          <a:bodyPr>
            <a:normAutofit/>
          </a:bodyPr>
          <a:lstStyle/>
          <a:p>
            <a:pPr marL="114300" indent="0">
              <a:buNone/>
            </a:pPr>
            <a:r>
              <a:rPr lang="en-IN" sz="2400" b="1" dirty="0"/>
              <a:t>Query :</a:t>
            </a:r>
            <a:r>
              <a:rPr lang="en-IN" sz="2400" dirty="0"/>
              <a:t>  </a:t>
            </a:r>
          </a:p>
          <a:p>
            <a:pPr marL="114300" indent="0">
              <a:buNone/>
            </a:pPr>
            <a:endParaRPr lang="en-IN" sz="2400" dirty="0"/>
          </a:p>
          <a:p>
            <a:pPr marL="114300" indent="0">
              <a:buNone/>
            </a:pPr>
            <a:r>
              <a:rPr lang="en-IN" sz="2400" b="1" dirty="0"/>
              <a:t>Output :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finds the total counts treatments which are completed, rescheduled, cancelled, no-show, and in-progress statuses, providing information that most of the treatments are completed.</a:t>
            </a:r>
          </a:p>
          <a:p>
            <a:pPr marL="114300" indent="0">
              <a:buNone/>
            </a:pPr>
            <a:endParaRPr lang="en-AE" sz="2400" b="1" dirty="0"/>
          </a:p>
        </p:txBody>
      </p:sp>
      <p:pic>
        <p:nvPicPr>
          <p:cNvPr id="6" name="Picture 5">
            <a:extLst>
              <a:ext uri="{FF2B5EF4-FFF2-40B4-BE49-F238E27FC236}">
                <a16:creationId xmlns:a16="http://schemas.microsoft.com/office/drawing/2014/main" id="{38E2EAFB-4318-C751-87C9-128B5D363DF3}"/>
              </a:ext>
            </a:extLst>
          </p:cNvPr>
          <p:cNvPicPr>
            <a:picLocks noChangeAspect="1"/>
          </p:cNvPicPr>
          <p:nvPr/>
        </p:nvPicPr>
        <p:blipFill>
          <a:blip r:embed="rId2"/>
          <a:stretch>
            <a:fillRect/>
          </a:stretch>
        </p:blipFill>
        <p:spPr>
          <a:xfrm>
            <a:off x="2507225" y="1495374"/>
            <a:ext cx="4470517" cy="790625"/>
          </a:xfrm>
          <a:prstGeom prst="rect">
            <a:avLst/>
          </a:prstGeom>
        </p:spPr>
      </p:pic>
      <p:pic>
        <p:nvPicPr>
          <p:cNvPr id="9" name="Picture 8">
            <a:extLst>
              <a:ext uri="{FF2B5EF4-FFF2-40B4-BE49-F238E27FC236}">
                <a16:creationId xmlns:a16="http://schemas.microsoft.com/office/drawing/2014/main" id="{09500B7D-5C2E-4FFB-D286-DBC10CDF756A}"/>
              </a:ext>
            </a:extLst>
          </p:cNvPr>
          <p:cNvPicPr>
            <a:picLocks noChangeAspect="1"/>
          </p:cNvPicPr>
          <p:nvPr/>
        </p:nvPicPr>
        <p:blipFill>
          <a:blip r:embed="rId3"/>
          <a:stretch>
            <a:fillRect/>
          </a:stretch>
        </p:blipFill>
        <p:spPr>
          <a:xfrm>
            <a:off x="2621209" y="2328674"/>
            <a:ext cx="2614820" cy="1829669"/>
          </a:xfrm>
          <a:prstGeom prst="rect">
            <a:avLst/>
          </a:prstGeom>
        </p:spPr>
      </p:pic>
    </p:spTree>
    <p:extLst>
      <p:ext uri="{BB962C8B-B14F-4D97-AF65-F5344CB8AC3E}">
        <p14:creationId xmlns:p14="http://schemas.microsoft.com/office/powerpoint/2010/main" val="2220952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E76E0-7A8B-FB01-55A5-337631C0AADC}"/>
              </a:ext>
            </a:extLst>
          </p:cNvPr>
          <p:cNvSpPr>
            <a:spLocks noGrp="1"/>
          </p:cNvSpPr>
          <p:nvPr>
            <p:ph type="title"/>
          </p:nvPr>
        </p:nvSpPr>
        <p:spPr>
          <a:xfrm>
            <a:off x="838200" y="365126"/>
            <a:ext cx="10515600" cy="913066"/>
          </a:xfrm>
        </p:spPr>
        <p:txBody>
          <a:bodyPr>
            <a:normAutofit/>
          </a:bodyPr>
          <a:lstStyle/>
          <a:p>
            <a:r>
              <a:rPr lang="en-US" sz="2800" b="1" dirty="0"/>
              <a:t>Investigate whether priority level is associated with waiting time or treatment outcomes.</a:t>
            </a:r>
            <a:endParaRPr lang="en-AE" sz="2800" b="1" dirty="0"/>
          </a:p>
        </p:txBody>
      </p:sp>
      <p:sp>
        <p:nvSpPr>
          <p:cNvPr id="3" name="Text Placeholder 2">
            <a:extLst>
              <a:ext uri="{FF2B5EF4-FFF2-40B4-BE49-F238E27FC236}">
                <a16:creationId xmlns:a16="http://schemas.microsoft.com/office/drawing/2014/main" id="{F7B5B583-A99F-DB88-D400-8DF4330CA617}"/>
              </a:ext>
            </a:extLst>
          </p:cNvPr>
          <p:cNvSpPr>
            <a:spLocks noGrp="1"/>
          </p:cNvSpPr>
          <p:nvPr>
            <p:ph type="body" idx="1"/>
          </p:nvPr>
        </p:nvSpPr>
        <p:spPr>
          <a:xfrm>
            <a:off x="838200" y="1278194"/>
            <a:ext cx="10515600" cy="4898769"/>
          </a:xfrm>
        </p:spPr>
        <p:txBody>
          <a:bodyPr>
            <a:normAutofit/>
          </a:bodyPr>
          <a:lstStyle/>
          <a:p>
            <a:pPr marL="114300" indent="0">
              <a:buNone/>
            </a:pPr>
            <a:r>
              <a:rPr lang="en-IN" sz="2400" b="1" dirty="0"/>
              <a:t>Query :</a:t>
            </a:r>
          </a:p>
          <a:p>
            <a:pPr marL="114300" indent="0">
              <a:buNone/>
            </a:pPr>
            <a:endParaRPr lang="en-IN" sz="2400" b="1" dirty="0"/>
          </a:p>
          <a:p>
            <a:pPr marL="114300" indent="0">
              <a:buNone/>
            </a:pPr>
            <a:endParaRPr lang="en-IN" sz="2400" b="1" dirty="0"/>
          </a:p>
          <a:p>
            <a:pPr marL="114300" indent="0">
              <a:buNone/>
            </a:pPr>
            <a:endParaRPr lang="en-IN" sz="2400" b="1" dirty="0"/>
          </a:p>
          <a:p>
            <a:pPr marL="114300" indent="0">
              <a:buNone/>
            </a:pPr>
            <a:r>
              <a:rPr lang="en-IN" sz="2400" b="1" dirty="0"/>
              <a:t>Output :</a:t>
            </a:r>
          </a:p>
          <a:p>
            <a:pPr marL="114300" indent="0">
              <a:buNone/>
            </a:pPr>
            <a:endParaRPr lang="en-IN" sz="2400" b="1" dirty="0"/>
          </a:p>
          <a:p>
            <a:pPr marL="114300" indent="0">
              <a:buNone/>
            </a:pPr>
            <a:endParaRPr lang="en-IN" sz="2400" b="1" dirty="0"/>
          </a:p>
          <a:p>
            <a:pPr marL="114300" indent="0">
              <a:buNone/>
            </a:pPr>
            <a:endParaRPr lang="en-IN" sz="2400" b="1" dirty="0"/>
          </a:p>
          <a:p>
            <a:pPr algn="just"/>
            <a:r>
              <a:rPr lang="en-AE" sz="2400" dirty="0"/>
              <a:t>The query compares the priority of treatments with waiting time and completion rate.</a:t>
            </a:r>
            <a:endParaRPr lang="en-AE" sz="2400" b="1" dirty="0"/>
          </a:p>
        </p:txBody>
      </p:sp>
      <p:pic>
        <p:nvPicPr>
          <p:cNvPr id="6" name="Picture 5">
            <a:extLst>
              <a:ext uri="{FF2B5EF4-FFF2-40B4-BE49-F238E27FC236}">
                <a16:creationId xmlns:a16="http://schemas.microsoft.com/office/drawing/2014/main" id="{52B5D3F5-CB4B-3638-28D4-5E63B481A258}"/>
              </a:ext>
            </a:extLst>
          </p:cNvPr>
          <p:cNvPicPr>
            <a:picLocks noChangeAspect="1"/>
          </p:cNvPicPr>
          <p:nvPr/>
        </p:nvPicPr>
        <p:blipFill>
          <a:blip r:embed="rId2"/>
          <a:stretch>
            <a:fillRect/>
          </a:stretch>
        </p:blipFill>
        <p:spPr>
          <a:xfrm>
            <a:off x="2136058" y="1278192"/>
            <a:ext cx="6398342" cy="1556268"/>
          </a:xfrm>
          <a:prstGeom prst="rect">
            <a:avLst/>
          </a:prstGeom>
        </p:spPr>
      </p:pic>
      <p:pic>
        <p:nvPicPr>
          <p:cNvPr id="9" name="Picture 8">
            <a:extLst>
              <a:ext uri="{FF2B5EF4-FFF2-40B4-BE49-F238E27FC236}">
                <a16:creationId xmlns:a16="http://schemas.microsoft.com/office/drawing/2014/main" id="{3FA9AF9E-227A-7FD2-5322-D85AF9D05B49}"/>
              </a:ext>
            </a:extLst>
          </p:cNvPr>
          <p:cNvPicPr>
            <a:picLocks noChangeAspect="1"/>
          </p:cNvPicPr>
          <p:nvPr/>
        </p:nvPicPr>
        <p:blipFill>
          <a:blip r:embed="rId3"/>
          <a:stretch>
            <a:fillRect/>
          </a:stretch>
        </p:blipFill>
        <p:spPr>
          <a:xfrm>
            <a:off x="2244915" y="2969391"/>
            <a:ext cx="3446528" cy="1787665"/>
          </a:xfrm>
          <a:prstGeom prst="rect">
            <a:avLst/>
          </a:prstGeom>
        </p:spPr>
      </p:pic>
    </p:spTree>
    <p:extLst>
      <p:ext uri="{BB962C8B-B14F-4D97-AF65-F5344CB8AC3E}">
        <p14:creationId xmlns:p14="http://schemas.microsoft.com/office/powerpoint/2010/main" val="3031014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E08A1-FBA9-8545-8E85-BD0FEB4BE84A}"/>
              </a:ext>
            </a:extLst>
          </p:cNvPr>
          <p:cNvSpPr>
            <a:spLocks noGrp="1"/>
          </p:cNvSpPr>
          <p:nvPr>
            <p:ph type="title"/>
          </p:nvPr>
        </p:nvSpPr>
        <p:spPr>
          <a:xfrm>
            <a:off x="580103" y="365126"/>
            <a:ext cx="11041625" cy="1031056"/>
          </a:xfrm>
        </p:spPr>
        <p:txBody>
          <a:bodyPr>
            <a:normAutofit/>
          </a:bodyPr>
          <a:lstStyle/>
          <a:p>
            <a:r>
              <a:rPr lang="en-IN" sz="4000" b="1" dirty="0">
                <a:solidFill>
                  <a:srgbClr val="FF0000"/>
                </a:solidFill>
                <a:latin typeface="+mn-lt"/>
              </a:rPr>
              <a:t>Challenges / Experiences:</a:t>
            </a:r>
            <a:endParaRPr lang="en-AE" sz="4000" b="1" dirty="0">
              <a:solidFill>
                <a:srgbClr val="FF0000"/>
              </a:solidFill>
              <a:latin typeface="+mn-lt"/>
            </a:endParaRPr>
          </a:p>
        </p:txBody>
      </p:sp>
      <p:sp>
        <p:nvSpPr>
          <p:cNvPr id="3" name="Text Placeholder 2">
            <a:extLst>
              <a:ext uri="{FF2B5EF4-FFF2-40B4-BE49-F238E27FC236}">
                <a16:creationId xmlns:a16="http://schemas.microsoft.com/office/drawing/2014/main" id="{7CAB7BDD-C2A8-9493-A219-27D525754102}"/>
              </a:ext>
            </a:extLst>
          </p:cNvPr>
          <p:cNvSpPr>
            <a:spLocks noGrp="1"/>
          </p:cNvSpPr>
          <p:nvPr>
            <p:ph type="body" idx="1"/>
          </p:nvPr>
        </p:nvSpPr>
        <p:spPr>
          <a:xfrm>
            <a:off x="580103" y="1268361"/>
            <a:ext cx="11041625" cy="4916129"/>
          </a:xfrm>
        </p:spPr>
        <p:txBody>
          <a:bodyPr>
            <a:normAutofit/>
          </a:bodyPr>
          <a:lstStyle/>
          <a:p>
            <a:pPr algn="just"/>
            <a:r>
              <a:rPr lang="en-AE" sz="2400" dirty="0"/>
              <a:t>Learned real-time database design.</a:t>
            </a:r>
          </a:p>
          <a:p>
            <a:pPr lvl="0" algn="just"/>
            <a:r>
              <a:rPr lang="en-AE" sz="2400" dirty="0"/>
              <a:t>Worked with multiple related tables.</a:t>
            </a:r>
          </a:p>
          <a:p>
            <a:pPr lvl="0" algn="just"/>
            <a:r>
              <a:rPr lang="en-AE" sz="2400" dirty="0"/>
              <a:t>Practiced SQL joins and aggregate queries.</a:t>
            </a:r>
            <a:endParaRPr lang="en-AE" sz="2400" b="1" dirty="0"/>
          </a:p>
          <a:p>
            <a:pPr lvl="0" algn="just"/>
            <a:r>
              <a:rPr lang="en-AE" sz="2400" dirty="0"/>
              <a:t>Creating correct foreign key relationships.</a:t>
            </a:r>
          </a:p>
          <a:p>
            <a:pPr lvl="0" algn="just"/>
            <a:r>
              <a:rPr lang="en-AE" sz="2400" dirty="0"/>
              <a:t>Maintaining data consistency.</a:t>
            </a:r>
          </a:p>
          <a:p>
            <a:pPr lvl="0" algn="just"/>
            <a:r>
              <a:rPr lang="en-AE" sz="2400" dirty="0"/>
              <a:t>Writing complex JOIN queries.</a:t>
            </a:r>
            <a:endParaRPr lang="en-AE" sz="2400" b="1" dirty="0"/>
          </a:p>
          <a:p>
            <a:pPr marL="114300" indent="0" algn="just">
              <a:buNone/>
            </a:pPr>
            <a:r>
              <a:rPr lang="en-AE" sz="2400" dirty="0"/>
              <a:t>These challenges were solved using </a:t>
            </a:r>
            <a:r>
              <a:rPr lang="en-AE" sz="2400" b="1" dirty="0"/>
              <a:t>Primary Keys, Foreign Keys, JOIN operations, GROUP BY, SUM(), AVG(), and COUNT() functions</a:t>
            </a:r>
            <a:r>
              <a:rPr lang="en-AE" sz="2400" dirty="0"/>
              <a:t>.</a:t>
            </a:r>
          </a:p>
          <a:p>
            <a:endParaRPr lang="en-AE" dirty="0"/>
          </a:p>
        </p:txBody>
      </p:sp>
    </p:spTree>
    <p:extLst>
      <p:ext uri="{BB962C8B-B14F-4D97-AF65-F5344CB8AC3E}">
        <p14:creationId xmlns:p14="http://schemas.microsoft.com/office/powerpoint/2010/main" val="2846460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CF24-C824-E6BA-F6CA-3368B97FDAA4}"/>
              </a:ext>
            </a:extLst>
          </p:cNvPr>
          <p:cNvSpPr>
            <a:spLocks noGrp="1"/>
          </p:cNvSpPr>
          <p:nvPr>
            <p:ph type="title"/>
          </p:nvPr>
        </p:nvSpPr>
        <p:spPr>
          <a:xfrm>
            <a:off x="639097" y="365126"/>
            <a:ext cx="10962968" cy="893404"/>
          </a:xfrm>
        </p:spPr>
        <p:txBody>
          <a:bodyPr/>
          <a:lstStyle/>
          <a:p>
            <a:r>
              <a:rPr lang="en-IN" b="1" dirty="0">
                <a:solidFill>
                  <a:srgbClr val="FF0000"/>
                </a:solidFill>
                <a:latin typeface="+mn-lt"/>
              </a:rPr>
              <a:t>Conclusion : </a:t>
            </a:r>
            <a:endParaRPr lang="en-AE" b="1" dirty="0">
              <a:solidFill>
                <a:srgbClr val="FF0000"/>
              </a:solidFill>
              <a:latin typeface="+mn-lt"/>
            </a:endParaRPr>
          </a:p>
        </p:txBody>
      </p:sp>
      <p:sp>
        <p:nvSpPr>
          <p:cNvPr id="3" name="Text Placeholder 2">
            <a:extLst>
              <a:ext uri="{FF2B5EF4-FFF2-40B4-BE49-F238E27FC236}">
                <a16:creationId xmlns:a16="http://schemas.microsoft.com/office/drawing/2014/main" id="{6CBA55F5-26D8-F60A-1417-650191751019}"/>
              </a:ext>
            </a:extLst>
          </p:cNvPr>
          <p:cNvSpPr>
            <a:spLocks noGrp="1"/>
          </p:cNvSpPr>
          <p:nvPr>
            <p:ph type="body" idx="1"/>
          </p:nvPr>
        </p:nvSpPr>
        <p:spPr>
          <a:xfrm>
            <a:off x="639097" y="1484672"/>
            <a:ext cx="10962968" cy="4365522"/>
          </a:xfrm>
        </p:spPr>
        <p:txBody>
          <a:bodyPr>
            <a:normAutofit/>
          </a:bodyPr>
          <a:lstStyle/>
          <a:p>
            <a:pPr lvl="0" algn="just"/>
            <a:r>
              <a:rPr lang="en-AE" sz="2400" dirty="0"/>
              <a:t>Successfully designed and implemented an Hospital Patient Care Operations Analytics using MySQL. </a:t>
            </a:r>
          </a:p>
          <a:p>
            <a:pPr lvl="0" algn="just"/>
            <a:r>
              <a:rPr lang="en-AE" sz="2400" dirty="0"/>
              <a:t>Managed five interrelated tables for doctors, patients, rooms, appointments, treatments. </a:t>
            </a:r>
          </a:p>
          <a:p>
            <a:pPr lvl="0" algn="just"/>
            <a:r>
              <a:rPr lang="en-AE" sz="2400" dirty="0"/>
              <a:t>Used SQL queries, joins, and aggregate functions to generate meaningful patients and appointments insights. </a:t>
            </a:r>
          </a:p>
          <a:p>
            <a:pPr lvl="0" algn="just"/>
            <a:r>
              <a:rPr lang="en-AE" sz="2400" dirty="0"/>
              <a:t>Improved understanding of relational database design, foreign keys, data integrity, and SQL-based analysis. </a:t>
            </a:r>
            <a:endParaRPr lang="en-AE" sz="2400" b="1" dirty="0"/>
          </a:p>
          <a:p>
            <a:pPr algn="just"/>
            <a:r>
              <a:rPr lang="en-AE" sz="2400" b="1" dirty="0"/>
              <a:t>“This project helped me understand how SQL can be used to manage real-world hospital data and generate meaningful business insights. Thank you.”</a:t>
            </a:r>
            <a:endParaRPr lang="en-AE" sz="2400" dirty="0"/>
          </a:p>
          <a:p>
            <a:endParaRPr lang="en-AE" dirty="0"/>
          </a:p>
        </p:txBody>
      </p:sp>
    </p:spTree>
    <p:extLst>
      <p:ext uri="{BB962C8B-B14F-4D97-AF65-F5344CB8AC3E}">
        <p14:creationId xmlns:p14="http://schemas.microsoft.com/office/powerpoint/2010/main" val="1909995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548284" y="1543665"/>
            <a:ext cx="4709651" cy="3352800"/>
          </a:xfrm>
          <a:prstGeom prst="rect">
            <a:avLst/>
          </a:prstGeom>
          <a:noFill/>
          <a:ln>
            <a:noFill/>
          </a:ln>
        </p:spPr>
      </p:pic>
      <p:sp>
        <p:nvSpPr>
          <p:cNvPr id="117" name="Google Shape;117;p5"/>
          <p:cNvSpPr txBox="1"/>
          <p:nvPr/>
        </p:nvSpPr>
        <p:spPr>
          <a:xfrm>
            <a:off x="934066" y="2782528"/>
            <a:ext cx="5161934" cy="8259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5300" b="1" i="0" u="none" strike="noStrike" cap="none" dirty="0">
                <a:solidFill>
                  <a:srgbClr val="C00000"/>
                </a:solidFill>
                <a:latin typeface="Libre Baskerville"/>
                <a:ea typeface="Libre Baskerville"/>
                <a:cs typeface="Libre Baskerville"/>
                <a:sym typeface="Libre Baskerville"/>
              </a:rPr>
              <a:t>THANK YOU</a:t>
            </a:r>
            <a:endParaRPr sz="5300" b="1"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2132</TotalTime>
  <Words>1180</Words>
  <Application>Microsoft Office PowerPoint</Application>
  <PresentationFormat>Widescreen</PresentationFormat>
  <Paragraphs>239</Paragraphs>
  <Slides>29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Libre Baskerville</vt:lpstr>
      <vt:lpstr>Times New Roman</vt:lpstr>
      <vt:lpstr>Calibri</vt:lpstr>
      <vt:lpstr>Office Theme</vt:lpstr>
      <vt:lpstr>PowerPoint Presentation</vt:lpstr>
      <vt:lpstr>About Me</vt:lpstr>
      <vt:lpstr>Agenda</vt:lpstr>
      <vt:lpstr> Objective of the Project : </vt:lpstr>
      <vt:lpstr> Database Structure :  </vt:lpstr>
      <vt:lpstr>ER Diagram  </vt:lpstr>
      <vt:lpstr>Key Analysis Questions Patient Insights</vt:lpstr>
      <vt:lpstr>What is the total number of appointments?</vt:lpstr>
      <vt:lpstr>What is the total number of treatment records?</vt:lpstr>
      <vt:lpstr>What are the different medical service types?</vt:lpstr>
      <vt:lpstr> How many doctors are currently active? </vt:lpstr>
      <vt:lpstr> </vt:lpstr>
      <vt:lpstr>What is the total estimated appointment value?</vt:lpstr>
      <vt:lpstr>What is the average treatment duration?</vt:lpstr>
      <vt:lpstr>Compare appointment volume across cities.</vt:lpstr>
      <vt:lpstr>Compare estimated appointment value across patient types.</vt:lpstr>
      <vt:lpstr>Examine booking channels and their contribution to demand.</vt:lpstr>
      <vt:lpstr>Compare patients by number of appointments.</vt:lpstr>
      <vt:lpstr>Identify patients with higher cumulative estimated appointment value.</vt:lpstr>
      <vt:lpstr>Compare patient activity across cities.</vt:lpstr>
      <vt:lpstr>Compare General, Corporate, and Insurance patients.</vt:lpstr>
      <vt:lpstr>Examine treatment duration and waiting time.</vt:lpstr>
      <vt:lpstr>Compare Completed, Cancelled, No-Show, Rescheduled, and In Progress outcomes.</vt:lpstr>
      <vt:lpstr>Identify areas with higher treatment activity or proper outcomes.</vt:lpstr>
      <vt:lpstr>Find common problem statuses and patterns.</vt:lpstr>
      <vt:lpstr>Investigate whether priority level is associated with waiting time or treatment outcomes.</vt:lpstr>
      <vt:lpstr>Challenges / Experiences:</vt:lpstr>
      <vt:lpstr>Conclusion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Rupa devi</cp:lastModifiedBy>
  <cp:revision>6</cp:revision>
  <dcterms:created xsi:type="dcterms:W3CDTF">2021-02-16T05:19:01Z</dcterms:created>
  <dcterms:modified xsi:type="dcterms:W3CDTF">2026-09-04T10:59:05Z</dcterms:modified>
</cp:coreProperties>
</file>